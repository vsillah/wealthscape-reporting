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1500201abf4e4e" /><Relationship Type="http://schemas.openxmlformats.org/officeDocument/2006/relationships/extended-properties" Target="/docProps/app.xml" Id="Rdefb5a69b65c47d7" /><Relationship Type="http://schemas.openxmlformats.org/officeDocument/2006/relationships/officeDocument" Target="/ppt/presentation.xml" Id="Re50d00d3073f47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20f7e73af14f8a"/>
  </p:sldMasterIdLst>
  <p:notesMasterIdLst>
    <p:notesMasterId xmlns:r="http://schemas.openxmlformats.org/officeDocument/2006/relationships" r:id="R8ff2d383dade479a"/>
  </p:notesMasterIdLst>
  <p:sldIdLst>
    <p:sldId xmlns:r="http://schemas.openxmlformats.org/officeDocument/2006/relationships" id="256" r:id="R3d9978dbfe8e4911"/>
    <p:sldId xmlns:r="http://schemas.openxmlformats.org/officeDocument/2006/relationships" id="257" r:id="R0b91708de23a4ee3"/>
    <p:sldId xmlns:r="http://schemas.openxmlformats.org/officeDocument/2006/relationships" id="258" r:id="R92afef756e624f2f"/>
    <p:sldId xmlns:r="http://schemas.openxmlformats.org/officeDocument/2006/relationships" id="259" r:id="R868a5c1b1eb24ea3"/>
    <p:sldId xmlns:r="http://schemas.openxmlformats.org/officeDocument/2006/relationships" id="260" r:id="R824991e39d584a04"/>
    <p:sldId xmlns:r="http://schemas.openxmlformats.org/officeDocument/2006/relationships" id="261" r:id="R410206a8c42e41d9"/>
    <p:sldId xmlns:r="http://schemas.openxmlformats.org/officeDocument/2006/relationships" id="262" r:id="R460eb337fe3249dd"/>
    <p:sldId xmlns:r="http://schemas.openxmlformats.org/officeDocument/2006/relationships" id="263" r:id="R83037aeca99e4210"/>
    <p:sldId xmlns:r="http://schemas.openxmlformats.org/officeDocument/2006/relationships" id="264" r:id="R203516a2bafb4707"/>
    <p:sldId xmlns:r="http://schemas.openxmlformats.org/officeDocument/2006/relationships" id="265" r:id="R45480b912e424cde"/>
    <p:sldId xmlns:r="http://schemas.openxmlformats.org/officeDocument/2006/relationships" id="266" r:id="Rf9bf7c72f9a24797"/>
    <p:sldId xmlns:r="http://schemas.openxmlformats.org/officeDocument/2006/relationships" id="267" r:id="R85701f13fc904c14"/>
    <p:sldId xmlns:r="http://schemas.openxmlformats.org/officeDocument/2006/relationships" id="268" r:id="R955a2f57dc9d46c0"/>
    <p:sldId xmlns:r="http://schemas.openxmlformats.org/officeDocument/2006/relationships" id="269" r:id="R2dc29771cd5c4183"/>
    <p:sldId xmlns:r="http://schemas.openxmlformats.org/officeDocument/2006/relationships" id="270" r:id="R6d42c4f80f1e459a"/>
    <p:sldId xmlns:r="http://schemas.openxmlformats.org/officeDocument/2006/relationships" id="271" r:id="Rd05834d7cec94984"/>
    <p:sldId xmlns:r="http://schemas.openxmlformats.org/officeDocument/2006/relationships" id="272" r:id="R873f13ffcd2c46c7"/>
    <p:sldId xmlns:r="http://schemas.openxmlformats.org/officeDocument/2006/relationships" id="273" r:id="R32277bad36034f4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335c8d6aae4ea7" /><Relationship Type="http://schemas.openxmlformats.org/officeDocument/2006/relationships/slideMaster" Target="/ppt/slideMasters/slideMaster1.xml" Id="Rad20f7e73af14f8a" /><Relationship Type="http://schemas.openxmlformats.org/officeDocument/2006/relationships/notesMaster" Target="/ppt/notesMasters/notesMaster1.xml" Id="R8ff2d383dade479a" /><Relationship Type="http://schemas.openxmlformats.org/officeDocument/2006/relationships/presProps" Target="/ppt/presProps.xml" Id="R24cccd3f880d466b" /><Relationship Type="http://schemas.openxmlformats.org/officeDocument/2006/relationships/tableStyles" Target="/ppt/tableStyles.xml" Id="R6c19b7ef5948408c" /><Relationship Type="http://schemas.openxmlformats.org/officeDocument/2006/relationships/slide" Target="/ppt/slides/slide1.xml" Id="R3d9978dbfe8e4911" /><Relationship Type="http://schemas.openxmlformats.org/officeDocument/2006/relationships/slide" Target="/ppt/slides/slide2.xml" Id="R0b91708de23a4ee3" /><Relationship Type="http://schemas.openxmlformats.org/officeDocument/2006/relationships/slide" Target="/ppt/slides/slide3.xml" Id="R92afef756e624f2f" /><Relationship Type="http://schemas.openxmlformats.org/officeDocument/2006/relationships/slide" Target="/ppt/slides/slide4.xml" Id="R868a5c1b1eb24ea3" /><Relationship Type="http://schemas.openxmlformats.org/officeDocument/2006/relationships/slide" Target="/ppt/slides/slide5.xml" Id="R824991e39d584a04" /><Relationship Type="http://schemas.openxmlformats.org/officeDocument/2006/relationships/slide" Target="/ppt/slides/slide6.xml" Id="R410206a8c42e41d9" /><Relationship Type="http://schemas.openxmlformats.org/officeDocument/2006/relationships/slide" Target="/ppt/slides/slide7.xml" Id="R460eb337fe3249dd" /><Relationship Type="http://schemas.openxmlformats.org/officeDocument/2006/relationships/slide" Target="/ppt/slides/slide8.xml" Id="R83037aeca99e4210" /><Relationship Type="http://schemas.openxmlformats.org/officeDocument/2006/relationships/slide" Target="/ppt/slides/slide9.xml" Id="R203516a2bafb4707" /><Relationship Type="http://schemas.openxmlformats.org/officeDocument/2006/relationships/slide" Target="/ppt/slides/slide10.xml" Id="R45480b912e424cde" /><Relationship Type="http://schemas.openxmlformats.org/officeDocument/2006/relationships/slide" Target="/ppt/slides/slide11.xml" Id="Rf9bf7c72f9a24797" /><Relationship Type="http://schemas.openxmlformats.org/officeDocument/2006/relationships/slide" Target="/ppt/slides/slide12.xml" Id="R85701f13fc904c14" /><Relationship Type="http://schemas.openxmlformats.org/officeDocument/2006/relationships/slide" Target="/ppt/slides/slide13.xml" Id="R955a2f57dc9d46c0" /><Relationship Type="http://schemas.openxmlformats.org/officeDocument/2006/relationships/slide" Target="/ppt/slides/slide14.xml" Id="R2dc29771cd5c4183" /><Relationship Type="http://schemas.openxmlformats.org/officeDocument/2006/relationships/slide" Target="/ppt/slides/slide15.xml" Id="R6d42c4f80f1e459a" /><Relationship Type="http://schemas.openxmlformats.org/officeDocument/2006/relationships/slide" Target="/ppt/slides/slide16.xml" Id="Rd05834d7cec94984" /><Relationship Type="http://schemas.openxmlformats.org/officeDocument/2006/relationships/slide" Target="/ppt/slides/slide17.xml" Id="R873f13ffcd2c46c7" /><Relationship Type="http://schemas.openxmlformats.org/officeDocument/2006/relationships/slide" Target="/ppt/slides/slide18.xml" Id="R32277bad36034f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91ad44dda743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7f1b84e4d24cf9" /><Relationship Type="http://schemas.openxmlformats.org/officeDocument/2006/relationships/notesMaster" Target="/ppt/notesMasters/notesMaster1.xml" Id="R1e28a7281fde4f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97c7db877047d6" /><Relationship Type="http://schemas.openxmlformats.org/officeDocument/2006/relationships/notesMaster" Target="/ppt/notesMasters/notesMaster1.xml" Id="R7d376133239d45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c2a3d4eab74c12" /><Relationship Type="http://schemas.openxmlformats.org/officeDocument/2006/relationships/notesMaster" Target="/ppt/notesMasters/notesMaster1.xml" Id="Rf8ac65fd88fe4b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31e91793284ecb" /><Relationship Type="http://schemas.openxmlformats.org/officeDocument/2006/relationships/notesMaster" Target="/ppt/notesMasters/notesMaster1.xml" Id="R54ef6ef25fbd44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700cc66ab3344f1" /><Relationship Type="http://schemas.openxmlformats.org/officeDocument/2006/relationships/notesMaster" Target="/ppt/notesMasters/notesMaster1.xml" Id="R6eea1e6ba92d41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c9fb0a059644d9" /><Relationship Type="http://schemas.openxmlformats.org/officeDocument/2006/relationships/notesMaster" Target="/ppt/notesMasters/notesMaster1.xml" Id="R12f48528643e42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999a26d5f84637" /><Relationship Type="http://schemas.openxmlformats.org/officeDocument/2006/relationships/notesMaster" Target="/ppt/notesMasters/notesMaster1.xml" Id="R68661e2f40c44b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af3f6d51094cd8" /><Relationship Type="http://schemas.openxmlformats.org/officeDocument/2006/relationships/notesMaster" Target="/ppt/notesMasters/notesMaster1.xml" Id="R482a064d11b24c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33c0a7e2854bdd" /><Relationship Type="http://schemas.openxmlformats.org/officeDocument/2006/relationships/notesMaster" Target="/ppt/notesMasters/notesMaster1.xml" Id="Rab8b4fab752c4e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d19df15f3644f98" /><Relationship Type="http://schemas.openxmlformats.org/officeDocument/2006/relationships/notesMaster" Target="/ppt/notesMasters/notesMaster1.xml" Id="R03897dac793e434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221e881e6d145ca" /><Relationship Type="http://schemas.openxmlformats.org/officeDocument/2006/relationships/notesMaster" Target="/ppt/notesMasters/notesMaster1.xml" Id="R7c7e3ab9ddad48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559686a46e74e46" /><Relationship Type="http://schemas.openxmlformats.org/officeDocument/2006/relationships/notesMaster" Target="/ppt/notesMasters/notesMaster1.xml" Id="Rdeea35ba9f2f434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e556bb300240f5" /><Relationship Type="http://schemas.openxmlformats.org/officeDocument/2006/relationships/notesMaster" Target="/ppt/notesMasters/notesMaster1.xml" Id="R86c0c155036b44e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823081049b143e0" /><Relationship Type="http://schemas.openxmlformats.org/officeDocument/2006/relationships/notesMaster" Target="/ppt/notesMasters/notesMaster1.xml" Id="R5126f4946c98430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afda308e3b34fd6" /><Relationship Type="http://schemas.openxmlformats.org/officeDocument/2006/relationships/notesMaster" Target="/ppt/notesMasters/notesMaster1.xml" Id="R21bbc670997a43c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6a7778fd5e43d4" /><Relationship Type="http://schemas.openxmlformats.org/officeDocument/2006/relationships/notesMaster" Target="/ppt/notesMasters/notesMaster1.xml" Id="Rf2a5232f7fbf4b0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b79473dcc324015" /><Relationship Type="http://schemas.openxmlformats.org/officeDocument/2006/relationships/notesMaster" Target="/ppt/notesMasters/notesMaster1.xml" Id="Rc5232fe4ed1840c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2a2649bcab545d2" /><Relationship Type="http://schemas.openxmlformats.org/officeDocument/2006/relationships/notesMaster" Target="/ppt/notesMasters/notesMaster1.xml" Id="Re04a3ddd75a648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  <a:p xmlns:a="http://schemas.openxmlformats.org/drawingml/2006/main">
            <a:r>
              <a:t>Wealthscape Reporting 2.0 prototype captures, July 2026.</a:t>
            </a:r>
          </a:p>
          <a:p xmlns:a="http://schemas.openxmlformats.org/drawingml/2006/main">
            <a:r>
              <a:t>Design direction informed by Claude Code design-director pass on July 30,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SIFMA, 2025 Capital Markets Fact Book.</a:t>
            </a:r>
          </a:p>
          <a:p xmlns:a="http://schemas.openxmlformats.org/drawingml/2006/main">
            <a:r>
              <a:t>FINRA, 2026 Annual Regulatory Oversight Report.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  <a:p xmlns:a="http://schemas.openxmlformats.org/drawingml/2006/main">
            <a:r>
              <a:t>Wealthscape Reporting 2.0 prototype captures, July 2026.</a:t>
            </a:r>
          </a:p>
          <a:p xmlns:a="http://schemas.openxmlformats.org/drawingml/2006/main">
            <a:r>
              <a:t>Stakeholder QA in Codex task, July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  <a:p xmlns:a="http://schemas.openxmlformats.org/drawingml/2006/main">
            <a:r>
              <a:t>Wealthscape Reporting 2.0 prototype captures, July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FINRA, GenAI topic page and AI key topic resources, 2026.</a:t>
            </a:r>
          </a:p>
          <a:p xmlns:a="http://schemas.openxmlformats.org/drawingml/2006/main">
            <a:r>
              <a:t>SIFMA communications retention comment letter and 2026 supplemental cost evidence.</a:t>
            </a:r>
          </a:p>
          <a:p xmlns:a="http://schemas.openxmlformats.org/drawingml/2006/main">
            <a:r>
              <a:t>J.D. Power, 2026 U.S. Financial Advisor Satisfaction Study.</a:t>
            </a:r>
          </a:p>
          <a:p xmlns:a="http://schemas.openxmlformats.org/drawingml/2006/main">
            <a:r>
              <a:t>Fidelity Institutional, Wealth management trends for 2026.</a:t>
            </a:r>
          </a:p>
          <a:p xmlns:a="http://schemas.openxmlformats.org/drawingml/2006/main">
            <a:r>
              <a:t>Global Relay, Industry Insights 2026.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captures, July 2026.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captures, July 2026.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  <a:p xmlns:a="http://schemas.openxmlformats.org/drawingml/2006/main">
            <a:r>
              <a:t>Stakeholder QA in Codex task, July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captures, July 2026.</a:t>
            </a:r>
          </a:p>
          <a:p xmlns:a="http://schemas.openxmlformats.org/drawingml/2006/main">
            <a:r>
              <a:t>FINRA, 2026 Annual Regulatory Oversight Report.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captures, July 2026.</a:t>
            </a:r>
          </a:p>
          <a:p xmlns:a="http://schemas.openxmlformats.org/drawingml/2006/main">
            <a:r>
              <a:t>J.D. Power, 2026 U.S. Financial Advisor Satisfaction Study.</a:t>
            </a:r>
          </a:p>
          <a:p xmlns:a="http://schemas.openxmlformats.org/drawingml/2006/main">
            <a:r>
              <a:t>Fidelity Institutional, Wealth management trends for 2026.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captures, July 2026.</a:t>
            </a:r>
          </a:p>
          <a:p xmlns:a="http://schemas.openxmlformats.org/drawingml/2006/main">
            <a:r>
              <a:t>FINRA, GenAI topic page and AI key topic resources, 2026.</a:t>
            </a:r>
          </a:p>
          <a:p xmlns:a="http://schemas.openxmlformats.org/drawingml/2006/main">
            <a:r>
              <a:t>J.D. Power, 2026 U.S. Financial Advisor Satisfaction Study.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FINRA, GenAI topic page and AI key topic resources, 2026.</a:t>
            </a:r>
          </a:p>
          <a:p xmlns:a="http://schemas.openxmlformats.org/drawingml/2006/main">
            <a:r>
              <a:t>J.D. Power, 2026 U.S. Financial Advisor Satisfaction Study.</a:t>
            </a:r>
          </a:p>
          <a:p xmlns:a="http://schemas.openxmlformats.org/drawingml/2006/main">
            <a:r>
              <a:t>Wealthscape Reporting 2.0 prototype captures, July 2026.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SIFMA communications retention comment letter and 2026 supplemental cost evidence.</a:t>
            </a:r>
          </a:p>
          <a:p xmlns:a="http://schemas.openxmlformats.org/drawingml/2006/main">
            <a:r>
              <a:t>Global Relay, Industry Insights 2026.</a:t>
            </a:r>
          </a:p>
          <a:p xmlns:a="http://schemas.openxmlformats.org/drawingml/2006/main">
            <a:r>
              <a:t>Wealthscape Reporting 2.0 prototype captures, July 2026.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J.D. Power, 2026 U.S. Financial Advisor Satisfaction Study.</a:t>
            </a:r>
          </a:p>
          <a:p xmlns:a="http://schemas.openxmlformats.org/drawingml/2006/main">
            <a:r>
              <a:t>Fidelity Institutional, Wealth management trends for 2026.</a:t>
            </a:r>
          </a:p>
          <a:p xmlns:a="http://schemas.openxmlformats.org/drawingml/2006/main">
            <a:r>
              <a:t>Wealthscape Reporting 2.0 prototype captures, July 2026.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  <a:p xmlns:a="http://schemas.openxmlformats.org/drawingml/2006/main">
            <a:r>
              <a:t>Wealthscape Reporting 2.0 prototype captures, July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FINRA 2026 Annual Regulatory Oversight Report: https://www.finra.org/rules-guidance/guidance/reports/2026-finra-annual-regulatory-oversight-report</a:t>
            </a:r>
          </a:p>
          <a:p xmlns:a="http://schemas.openxmlformats.org/drawingml/2006/main">
            <a:r>
              <a:t>FINRA GenAI topic page: https://www.finra.org/rules-guidance/guidance/reports/2026-finra-annual-regulatory-oversight-report/gen-ai</a:t>
            </a:r>
          </a:p>
          <a:p xmlns:a="http://schemas.openxmlformats.org/drawingml/2006/main">
            <a:r>
              <a:t>FINRA Artificial Intelligence topic: https://www.finra.org/rules-guidance/key-topics/artificial-intelligence</a:t>
            </a:r>
          </a:p>
          <a:p xmlns:a="http://schemas.openxmlformats.org/drawingml/2006/main">
            <a:r>
              <a:t>SIFMA 2025 Capital Markets Fact Book: https://www.sifma.org/research/statistics/fact-book</a:t>
            </a:r>
          </a:p>
          <a:p xmlns:a="http://schemas.openxmlformats.org/drawingml/2006/main">
            <a:r>
              <a:t>J.D. Power 2026 U.S. Financial Advisor Satisfaction Study: https://www.jdpower.com/business/press-releases/2026-u-s-financial-advisor-satisfaction-study/</a:t>
            </a:r>
          </a:p>
          <a:p xmlns:a="http://schemas.openxmlformats.org/drawingml/2006/main">
            <a:r>
              <a:t>Global Relay Industry Insights 2026: https://www.globalrelay.com/resources/guides-reports/industry-insights-2026/</a:t>
            </a:r>
          </a:p>
          <a:p xmlns:a="http://schemas.openxmlformats.org/drawingml/2006/main">
            <a:r>
              <a:t>Fidelity Institutional wealth management trends for 2026: https://clearingcustody.fidelity.com/insights/topics/running-your-business/wealth-management-trends-for-2026</a:t>
            </a:r>
          </a:p>
          <a:p xmlns:a="http://schemas.openxmlformats.org/drawingml/2006/main">
            <a:r>
              <a:t>Envestnet R2 2026 platform announcement: https://newsroom.envestnet.com/2026-05-19-LIVE-FROM-ELEVATE-2026-Envestnet-Unveils-AI-Driven-Enhancements-and-Accelerates-Financial-Planning-Integration-for-Advisors-on-its-Wealth-Management-Platform</a:t>
            </a:r>
          </a:p>
          <a:p xmlns:a="http://schemas.openxmlformats.org/drawingml/2006/main">
            <a:r>
              <a:t>Envestnet AI explainability announcement: https://newsroom.envestnet.com/2026-05-19-Envestnet-Enhances-Wealth-Data-Platform-with-New-AI-Explainability%2C-Workflow-Explainability%2C-and-Advisor-Decisioning-Capabilities-at-Elevate-2026</a:t>
            </a:r>
          </a:p>
          <a:p xmlns:a="http://schemas.openxmlformats.org/drawingml/2006/main">
            <a:r>
              <a:t>Addepar for Wealth Management: https://addepar.com/wealth-management</a:t>
            </a:r>
          </a:p>
          <a:p xmlns:a="http://schemas.openxmlformats.org/drawingml/2006/main">
            <a:r>
              <a:t>Addepar 2026 AI/data/workflow positioning: https://www.prnewswire.com/news-releases/addepar-advances-its-ai-innovation-across-agents-data-and-workflow-capabilities-302779567.html</a:t>
            </a:r>
          </a:p>
          <a:p xmlns:a="http://schemas.openxmlformats.org/drawingml/2006/main">
            <a:r>
              <a:t>Repository docs: broker-dealer strategy expansion packet; strategy lane prompts.</a:t>
            </a:r>
          </a:p>
          <a:p xmlns:a="http://schemas.openxmlformats.org/drawingml/2006/main">
            <a:r>
              <a:t>Wealthscape Reporting 2.0 prototype captures, July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78b11d97904de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73b5eda72f4eb8" /><Relationship Type="http://schemas.openxmlformats.org/officeDocument/2006/relationships/slideLayout" Target="/ppt/slideLayouts/slideLayout1.xml" Id="Rc5d800eaca0746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d800eaca0746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41c5e9d814c0d" /><Relationship Type="http://schemas.openxmlformats.org/officeDocument/2006/relationships/notesSlide" Target="/ppt/notesSlides/notesSlide1.xml" Id="R8d10a80e5a4f46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9c343f661b4248" /><Relationship Type="http://schemas.openxmlformats.org/officeDocument/2006/relationships/notesSlide" Target="/ppt/notesSlides/notesSlide2.xml" Id="R6ade9fb144ed48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c6545088346d0" /><Relationship Type="http://schemas.openxmlformats.org/officeDocument/2006/relationships/notesSlide" Target="/ppt/notesSlides/notesSlide3.xml" Id="R9ce6badb7c6b4a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ffeb5864c4a45" /><Relationship Type="http://schemas.openxmlformats.org/officeDocument/2006/relationships/notesSlide" Target="/ppt/notesSlides/notesSlide4.xml" Id="Rd46d2233716e46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344c8d4274971" /><Relationship Type="http://schemas.openxmlformats.org/officeDocument/2006/relationships/notesSlide" Target="/ppt/notesSlides/notesSlide5.xml" Id="R74298713cb5f43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4d07ffffd04ba3" /><Relationship Type="http://schemas.openxmlformats.org/officeDocument/2006/relationships/notesSlide" Target="/ppt/notesSlides/notesSlide6.xml" Id="Rb430901478b94b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03cc5654a4764" /><Relationship Type="http://schemas.openxmlformats.org/officeDocument/2006/relationships/notesSlide" Target="/ppt/notesSlides/notesSlide7.xml" Id="R007f580e112c45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b06235f7d4add" /><Relationship Type="http://schemas.openxmlformats.org/officeDocument/2006/relationships/image" Target="/ppt/media/image.png" Id="R441a6deb5d3c42cd" /><Relationship Type="http://schemas.openxmlformats.org/officeDocument/2006/relationships/notesSlide" Target="/ppt/notesSlides/notesSlide8.xml" Id="R5cfb92ac2d0348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510ad28aa4132" /><Relationship Type="http://schemas.openxmlformats.org/officeDocument/2006/relationships/image" Target="/ppt/media/image2.png" Id="R35089389dbfd4549" /><Relationship Type="http://schemas.openxmlformats.org/officeDocument/2006/relationships/image" Target="/ppt/media/image3.png" Id="Re577c33427f7416f" /><Relationship Type="http://schemas.openxmlformats.org/officeDocument/2006/relationships/notesSlide" Target="/ppt/notesSlides/notesSlide9.xml" Id="R3b7c11b20b1241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195f8c43f44545" /><Relationship Type="http://schemas.openxmlformats.org/officeDocument/2006/relationships/image" Target="/ppt/media/image4.png" Id="Ra93b5ce8f10a4e84" /><Relationship Type="http://schemas.openxmlformats.org/officeDocument/2006/relationships/notesSlide" Target="/ppt/notesSlides/notesSlide10.xml" Id="R501d1fa3d3d74d3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4f84e0b2b491b" /><Relationship Type="http://schemas.openxmlformats.org/officeDocument/2006/relationships/image" Target="/ppt/media/image5.png" Id="R1fb78007643a41f4" /><Relationship Type="http://schemas.openxmlformats.org/officeDocument/2006/relationships/notesSlide" Target="/ppt/notesSlides/notesSlide11.xml" Id="R7b16388956294fe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b5d25f8fe429f" /><Relationship Type="http://schemas.openxmlformats.org/officeDocument/2006/relationships/image" Target="/ppt/media/image6.png" Id="R977646e24f7e4ba5" /><Relationship Type="http://schemas.openxmlformats.org/officeDocument/2006/relationships/notesSlide" Target="/ppt/notesSlides/notesSlide12.xml" Id="R1782f00bb70c4aa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c2e008d1f4912" /><Relationship Type="http://schemas.openxmlformats.org/officeDocument/2006/relationships/notesSlide" Target="/ppt/notesSlides/notesSlide13.xml" Id="Rc6bae018a1874b3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ba91c8c0249c4" /><Relationship Type="http://schemas.openxmlformats.org/officeDocument/2006/relationships/notesSlide" Target="/ppt/notesSlides/notesSlide14.xml" Id="Rf74034d88b764cd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1c2ff8f40d42f6" /><Relationship Type="http://schemas.openxmlformats.org/officeDocument/2006/relationships/notesSlide" Target="/ppt/notesSlides/notesSlide15.xml" Id="Re12dce4baf7d423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8463c88ca4ef7" /><Relationship Type="http://schemas.openxmlformats.org/officeDocument/2006/relationships/image" Target="/ppt/media/image7.png" Id="R52d0b949e693468d" /><Relationship Type="http://schemas.openxmlformats.org/officeDocument/2006/relationships/notesSlide" Target="/ppt/notesSlides/notesSlide16.xml" Id="R07825ae8637b45f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0d4ed7c27844eb" /><Relationship Type="http://schemas.openxmlformats.org/officeDocument/2006/relationships/notesSlide" Target="/ppt/notesSlides/notesSlide17.xml" Id="Recc37dae092a4f7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eafeaf2224297" /><Relationship Type="http://schemas.openxmlformats.org/officeDocument/2006/relationships/notesSlide" Target="/ppt/notesSlides/notesSlide18.xml" Id="R1c26b646b01d47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2A84C4-763A-494B-A465-D4B661C2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428E69-7C40-40A5-BD92-2A7BFA3C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620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6241B1-9B11-4A9B-A5C5-1168148A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76375"/>
            <a:ext cx="7239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0" b="1">
                <a:solidFill>
                  <a:srgbClr val="172033"/>
                </a:solidFill>
              </a:defRPr>
            </a:pPr>
            <a:r>
              <a:rPr sz="4350" b="1">
                <a:solidFill>
                  <a:srgbClr val="172033"/>
                </a:solidFill>
              </a:rPr>
              <a:t>Broker-dealer strategy as operating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3B9FD-09CF-4597-BA1C-BB35ACA3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647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5E6B7E"/>
                </a:solidFill>
              </a:defRPr>
            </a:pPr>
            <a:r>
              <a:rPr sz="1800" b="0">
                <a:solidFill>
                  <a:srgbClr val="5E6B7E"/>
                </a:solidFill>
              </a:rPr>
              <a:t>Prototype, strategy architecture, and prioritized recommendations for the next phase of Wealthscape reporting.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412C6C-AFCD-46B9-9C6D-C86EB948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219200"/>
            <a:ext cx="2647950" cy="31432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572E72-883D-453B-B2F1-1B9E7137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5430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06B3F"/>
                </a:solidFill>
              </a:defRPr>
            </a:pPr>
            <a:r>
              <a:rPr sz="1350" b="1">
                <a:solidFill>
                  <a:srgbClr val="006B3F"/>
                </a:solidFill>
              </a:rPr>
              <a:t>Deck purpose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8A04A6-0266-4DA8-85E6-1DB4F7E5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050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347656-C701-4968-93C3-2003E102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38350"/>
            <a:ext cx="1733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Show the work completed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2FD14D-1F7D-41AC-A774-B6CCFBB0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908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B93C41-4590-4363-8F7C-D1976CA9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24150"/>
            <a:ext cx="1733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Explain the strategy used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70C97-BB42-4425-9917-2E430FE3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D3E135-FC89-44D9-98B8-96F79E6D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09950"/>
            <a:ext cx="1733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Recommend what to build 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474F9-732B-416E-BB5D-9EA0230D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4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D559F8A4-308C-4C3D-A01C-DD3CADBA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strategy packet, prototype captures, public market sources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9A842-9AB3-4B59-A02C-2EDF374C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340021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072BC5-D373-492F-80E9-80D4645FD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712CD-7922-4750-AA97-FB3BF1F8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The core issue is operational complexity, not report cosmetics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1B44C-0D20-4C21-8E31-A02D84FE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Broker-dealer reporting must connect advisor productivity, supervisory evidence, AI governance, and retention signals into one operating rhythm.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2E0B66-EEF3-437F-8337-211E7C51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9D15FE30-4521-4CFE-B1D2-CFD506E6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SIFMA Fact Book; FINRA 2026 AOR; strategy packet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CC05B-9F68-4076-92C0-9587E250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8E43F5-3443-48DF-A064-82588654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2324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B6AF16-6DF7-4A62-89FF-45FB6F0C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BD market structure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63B90A-B813-4FD0-8363-783E96D5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3,249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1E268-96DF-4A47-B78F-04FAB6F2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E6B7E"/>
                </a:solidFill>
              </a:defRPr>
            </a:pPr>
            <a:r>
              <a:rPr sz="1125" b="0">
                <a:solidFill>
                  <a:srgbClr val="5E6B7E"/>
                </a:solidFill>
              </a:rPr>
              <a:t>FINRA-registered broker-dealers in 2024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148BE4-0007-4D09-BC1B-3D92B9A9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2324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7F857F-BC79-4084-A48D-994C63A6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29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BD economics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545FA1-606D-4B37-A3F2-AE4A7933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147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6B3F"/>
                </a:solidFill>
              </a:defRPr>
            </a:pPr>
            <a:r>
              <a:rPr sz="2550" b="1">
                <a:solidFill>
                  <a:srgbClr val="006B3F"/>
                </a:solidFill>
              </a:rPr>
              <a:t>$641B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56A2F3-674D-476D-93F6-2B782953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957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E6B7E"/>
                </a:solidFill>
              </a:defRPr>
            </a:pPr>
            <a:r>
              <a:rPr sz="1125" b="0">
                <a:solidFill>
                  <a:srgbClr val="5E6B7E"/>
                </a:solidFill>
              </a:rPr>
              <a:t>gross revenues in 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13FCA2-11C1-4585-BF59-0A6DC0D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257550"/>
            <a:ext cx="2324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98A78A-20C8-4152-86BB-D0B9E2F9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429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Supervision scope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7F2D56-C935-43DF-B814-75D8891C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147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B76E00"/>
                </a:solidFill>
              </a:defRPr>
            </a:pPr>
            <a:r>
              <a:rPr sz="2550" b="1">
                <a:solidFill>
                  <a:srgbClr val="B76E00"/>
                </a:solidFill>
              </a:rPr>
              <a:t>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E1C3EF-515B-49BF-98D0-6D0A7A37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E6B7E"/>
                </a:solidFill>
              </a:defRPr>
            </a:pPr>
            <a:r>
              <a:rPr sz="1125" b="0">
                <a:solidFill>
                  <a:srgbClr val="5E6B7E"/>
                </a:solidFill>
              </a:rPr>
              <a:t>FINRA adds GenAI trends to oversight report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922501-7ED5-4072-89A1-6BAFEC6E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57550"/>
            <a:ext cx="2324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40B00F-D127-4ECD-92B4-0E97E4FD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29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Advisor experience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874475-5329-430D-9D3E-47A25877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147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5B4BB2"/>
                </a:solidFill>
              </a:defRPr>
            </a:pPr>
            <a:r>
              <a:rPr sz="2550" b="1">
                <a:solidFill>
                  <a:srgbClr val="5B4BB2"/>
                </a:solidFill>
              </a:rPr>
              <a:t>+149 pts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FBF766-6B7C-4205-950F-6388880A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0957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E6B7E"/>
                </a:solidFill>
              </a:defRPr>
            </a:pPr>
            <a:r>
              <a:rPr sz="1125" b="0">
                <a:solidFill>
                  <a:srgbClr val="5E6B7E"/>
                </a:solidFill>
              </a:rPr>
              <a:t>employee advisor lift when firm AI works</a:t>
            </a:r>
          </a:p>
        </p:txBody>
      </p:sp>
    </p:spTree>
    <p:extLst>
      <p:ext uri="{BB962C8B-B14F-4D97-AF65-F5344CB8AC3E}">
        <p14:creationId xmlns:p14="http://schemas.microsoft.com/office/powerpoint/2010/main" val="17679341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4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B5E9E-7C06-4948-8EC7-23BE8198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A859"/>
                </a:solidFill>
              </a:defRPr>
            </a:pPr>
            <a:r>
              <a:rPr sz="1275" b="1">
                <a:solidFill>
                  <a:srgbClr val="00A859"/>
                </a:solidFill>
              </a:rPr>
              <a:t>01 / Strategy spine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A8B54-599A-4F9E-AD62-FDDF0B63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8572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A dashboard should operate. A strategy page should explain.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BF9DE8-FD28-4896-B6D8-6B265898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DDE8EF"/>
                </a:solidFill>
              </a:defRPr>
            </a:pPr>
            <a:r>
              <a:rPr sz="1800" b="0">
                <a:solidFill>
                  <a:srgbClr val="DDE8EF"/>
                </a:solidFill>
              </a:rPr>
              <a:t>The prototype should separate functional work surfaces from strategic rationale, then connect them with precise evidence links.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96C526-6853-4B0A-8C01-5CAC7BA4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5315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16523-7556-4107-8E68-F1089682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Next: evidence, prototype implications, and 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FE3865-82AB-425D-9890-9EB41A69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58739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7F4B34-4209-4D0C-A911-07AB1301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AA8BA2-0B87-4593-A652-AD96E59B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The product architecture now has a cleaner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0D5C8-B2D5-4B8D-AAA7-02071E4C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The dashboard should stay task-driven; the Strategy side should hold the why, market evidence, opportunity logic, and links back to the prototype proof.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64D5A-D3D7-4753-9DCA-6D32E3F0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B7ACBB63-F6B2-4659-B45B-EAAD76C69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stakeholder QA; strategy packet; prototype captures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31E585-8420-46CC-9C83-43D0C4C7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F3299-4C16-49D7-A214-368AB876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3143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3252D3-016B-4408-A6A7-1BCFC5DF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9D1BAB-7A97-44EA-BAAA-B17A5417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385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Dashboard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BF32DE-2E57-4524-BE6A-266F4F96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00450"/>
            <a:ext cx="2724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Operational queue, triage, drill-in, evidence packet, and next action. No strategy exposition in the workflow.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AFFDE6-30D2-48AC-B822-75DD9D7D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48000"/>
            <a:ext cx="3143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FCC31E-EADB-4F1B-859D-114AB71A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480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6A146A-702A-468B-BA3F-6EC0B219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2385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6B8760-9947-4DEB-AE37-67085249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600450"/>
            <a:ext cx="2724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Market signals, persona logic, opportunity ranking, build/wrap/partner calls, and solution links.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F90F65-A0A7-4E6F-B9E6-C72F0E91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48000"/>
            <a:ext cx="3143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E32432-C222-4755-BEB4-B1DBB48F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480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7754AB-04DA-42EB-A193-2555F8D8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385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Bridge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D6C2C7-87C6-44CE-9F24-0AE8FE53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00450"/>
            <a:ext cx="2724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Hyperlinks from recommendations to the prototype surfaces where each opportunity is addressed.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974ABE-32C0-4F89-B075-C0585C92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857625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1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BCA4F3-5D63-43CA-8280-A9D65A6E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857625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1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3569413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2A72DC-F912-431D-89B7-5EE3A398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467A06-B632-4AEA-81E6-284A283D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Three broker-dealer profiles create different operating jobs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4F7AC4-6A52-4400-A75D-90C414F3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The work expanded beyond the original RIA reporting lens into home-office, branch-principal, and hybrid-advisor surfaces.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47EBA-D2CE-4C17-A7E6-140A42D8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6DF7030D-FF65-49C5-A118-CE4C0EFB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broker-dealer profile registry and strategy packet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A0E5B-25F7-4849-960E-518D4EA1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1EA6B-47A6-46A3-B5A4-291EF34C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314325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1F52E-EB26-4C8B-A9E0-8C64ADB5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805D6-413B-434A-B598-F4BFBB93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861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BD Home Office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CA622F-C632-4E72-9CCD-33357663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48050"/>
            <a:ext cx="27241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Rank enterprise risks and productivity signals by urgency, impact, aging, and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B9209-9B8A-4BA5-9C9D-8541116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895600"/>
            <a:ext cx="314325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9F9D5-7EAF-4710-BA6D-FEA0744F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895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F1CAE2-8DD4-4390-B2AE-48D79187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0861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OSJ Principal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6FDFE0-03FD-4367-A08B-ADEF18BE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448050"/>
            <a:ext cx="27241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Triage branch exceptions, coach repeated rep patterns, and preserve escalation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5C8786-5EFC-459B-B1CA-8A2FFF96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95600"/>
            <a:ext cx="314325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63A89-0B3F-47EE-8A1E-B00473FD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95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1DC4E1-6AE7-4FF0-BB4E-2DDBEAAF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861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Hybrid Advisor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6E9455-B806-4071-8AEB-C8C82A6D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48050"/>
            <a:ext cx="27241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Resolve client, account, product, suitability, and reporting blockers across team roles.</a:t>
            </a:r>
          </a:p>
        </p:txBody>
      </p:sp>
    </p:spTree>
    <p:extLst>
      <p:ext uri="{BB962C8B-B14F-4D97-AF65-F5344CB8AC3E}">
        <p14:creationId xmlns:p14="http://schemas.microsoft.com/office/powerpoint/2010/main" val="95528591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7C0AD5-D4CB-4A69-8397-716E0B8C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0A501-4DED-4CC9-9AE8-FAEFE740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The prioritized opportunities cluster into four product moves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26C6C4-DBC1-4B75-BEF0-62717E50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Connect market signals to prototype behaviors that Fidelity stakeholders can test.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815F7C-572A-4E7E-B6B8-13A7F551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42271E6D-EEB6-4DB4-9CDB-43C0C53C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FINRA; SIFMA; J.D. Power; Fidelity; Global Relay; strategy packet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24962-7F45-4610-8ED6-28E0FE49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423F49-E8A3-4D05-9A7E-740B6162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5E6B7E"/>
                </a:solidFill>
              </a:defRPr>
            </a:pPr>
            <a:r>
              <a:rPr sz="1125" b="1">
                <a:solidFill>
                  <a:srgbClr val="5E6B7E"/>
                </a:solidFill>
              </a:rPr>
              <a:t>Opportunity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09411C-9D2D-4C5C-9923-9A7196AB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81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5E6B7E"/>
                </a:solidFill>
              </a:defRPr>
            </a:pPr>
            <a:r>
              <a:rPr sz="1125" b="1">
                <a:solidFill>
                  <a:srgbClr val="5E6B7E"/>
                </a:solidFill>
              </a:rPr>
              <a:t>What the product must prove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89FFC-0F9E-468E-A83D-DA505560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813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5E6B7E"/>
                </a:solidFill>
              </a:defRPr>
            </a:pPr>
            <a:r>
              <a:rPr sz="1125" b="1">
                <a:solidFill>
                  <a:srgbClr val="5E6B7E"/>
                </a:solidFill>
              </a:rPr>
              <a:t>Build urgency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2E4D17-0D04-4FD9-B556-40DF0E36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10629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4417C-95C9-4AED-838A-25B03040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956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AI evidence ledger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21EDA0-06D2-48DE-8C2A-CDDEF0C4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051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E6B7E"/>
                </a:solidFill>
              </a:defRPr>
            </a:pPr>
            <a:r>
              <a:rPr sz="1350" b="0">
                <a:solidFill>
                  <a:srgbClr val="5E6B7E"/>
                </a:solidFill>
              </a:rPr>
              <a:t>Policy status, model context, human review, retained artifacts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31BE2C-99F3-4D50-A2C2-47966C49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051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High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5C4158-2916-4D77-A650-E84E7A56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57625"/>
            <a:ext cx="10629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33CF19-0B59-4635-80A5-E37EF382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100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Retention rationale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FBD0D5-9CEC-4E0E-8EE7-C11424BD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19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E6B7E"/>
                </a:solidFill>
              </a:defRPr>
            </a:pPr>
            <a:r>
              <a:rPr sz="1350" b="0">
                <a:solidFill>
                  <a:srgbClr val="5E6B7E"/>
                </a:solidFill>
              </a:rPr>
              <a:t>Why retain, exclude, review, or escalate the communication artifact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F50D85-12EA-47A3-A22D-5BFBB215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195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High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F53152-DD3F-43BB-A507-84BAC0CE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10629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E766ED-C69C-42C3-BD6E-4A819E53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24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Advisor telemetry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BFEA70-9DB3-486E-B737-E36FDD3B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339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E6B7E"/>
                </a:solidFill>
              </a:defRPr>
            </a:pPr>
            <a:r>
              <a:rPr sz="1350" b="0">
                <a:solidFill>
                  <a:srgbClr val="5E6B7E"/>
                </a:solidFill>
              </a:rPr>
              <a:t>AI effectiveness, support load, adoption, exceptions, retention risk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4B0166-9890-45C5-99C6-7BABD14F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339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76E00"/>
                </a:solidFill>
              </a:defRPr>
            </a:pPr>
            <a:r>
              <a:rPr sz="1350" b="1">
                <a:solidFill>
                  <a:srgbClr val="B76E00"/>
                </a:solidFill>
              </a:rPr>
              <a:t>Medium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C3A3C6-D83B-4550-9959-F3BAFA36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86375"/>
            <a:ext cx="10629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C99B38-87F3-4C05-AEF7-33CD6EE2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387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Team-aware workflow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696AFF-0226-4DD5-A06D-AC6F44D4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483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E6B7E"/>
                </a:solidFill>
              </a:defRPr>
            </a:pPr>
            <a:r>
              <a:rPr sz="1350" b="0">
                <a:solidFill>
                  <a:srgbClr val="5E6B7E"/>
                </a:solidFill>
              </a:rPr>
              <a:t>Owner, blocker, evidence, and escalation by advisor-team role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8DCCD4-3494-49A2-B34A-D468CEFA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448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76E00"/>
                </a:solidFill>
              </a:defRPr>
            </a:pPr>
            <a:r>
              <a:rPr sz="1350" b="1">
                <a:solidFill>
                  <a:srgbClr val="B76E00"/>
                </a:solidFill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4289346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4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D1A94-9BFD-4E40-AA09-591F063F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A859"/>
                </a:solidFill>
              </a:defRPr>
            </a:pPr>
            <a:r>
              <a:rPr sz="1275" b="1">
                <a:solidFill>
                  <a:srgbClr val="00A859"/>
                </a:solidFill>
              </a:rPr>
              <a:t>02 / Prototype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D0D54F-83F5-4E13-B398-1D9C0B7A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8572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The prototype should make the strategy inspectable.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99081A-D639-41D2-BFD9-7155C97C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DDE8EF"/>
                </a:solidFill>
              </a:defRPr>
            </a:pPr>
            <a:r>
              <a:rPr sz="1800" b="0">
                <a:solidFill>
                  <a:srgbClr val="DDE8EF"/>
                </a:solidFill>
              </a:rPr>
              <a:t>Screenshots function as proof of recommended workflows, not decoration.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21CE87-064E-4FCA-A1EA-2652C4D3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5315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3213E-9D82-4A11-89BA-0BF3D404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Next: evidence, prototype implications, and 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15864-54EE-4406-9242-AF922E1B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940837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021DE-61E4-4B81-9F17-50897B61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8BF542-B91F-4715-B1CB-C30F7845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The home-office dashboard is the enterprise operating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10DE8F-DCDE-455D-B858-3DB391A6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The corrected role of this screen is action ranking: what needs attention, who owns it, what evidence exists, and what outcome is blocked.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A193C-A75D-4ECB-946F-7FB41C6E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62D8C7BC-FD91-4DD2-A1BA-DCA77BE8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prototype capture; broker-dealer strategy packet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721E9-1BE9-4C37-9CEF-C18FD992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4D64B-2B21-4F88-BA57-0BC59DF5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52550"/>
            <a:ext cx="4953000" cy="361950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1a6deb5d3c42cd"/>
          <a:srcRect xmlns:a="http://schemas.openxmlformats.org/drawingml/2006/main" l="0" t="154" r="0" b="1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1447800"/>
            <a:ext cx="4762500" cy="3429000"/>
          </a:xfrm>
          <a:prstGeom xmlns:a="http://schemas.openxmlformats.org/drawingml/2006/main" prst="roundRect">
            <a:avLst>
              <a:gd name="adj" fmla="val 2222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922C7F-9B3A-40D7-9D6B-91FA30BF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292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Prototype evidence: BD Home Office operating dashboard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C192D-7F8F-4AB4-AD01-25A4D546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385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F82C73-5DD7-4624-BB78-3268DA23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71850"/>
            <a:ext cx="4305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Priority queue ranks work by urgency and owner readiness.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F0AACE-8807-4146-B2CA-4E69545A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767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9AF7E4-2C12-4B4C-B845-441C1093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10050"/>
            <a:ext cx="4305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Alerts carry action labels rather than strategy explanation.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AF7E57-8B1A-45CC-AF9A-9CAB41A5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149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63A227-9646-457A-851C-238F1668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0"/>
            <a:ext cx="4305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Operating loop cards should deep-link to outcome-specific contexts.</a:t>
            </a:r>
          </a:p>
        </p:txBody>
      </p:sp>
    </p:spTree>
    <p:extLst>
      <p:ext uri="{BB962C8B-B14F-4D97-AF65-F5344CB8AC3E}">
        <p14:creationId xmlns:p14="http://schemas.microsoft.com/office/powerpoint/2010/main" val="20623503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006C00-916C-4147-BD11-68545C5A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814D8-3E3E-4164-87F3-28F2DECB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The strategy page should carry rationale and link to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1486A3-22DD-4608-B6EE-712DDC68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Strategy content belongs here: evidence, opportunity scoring, build/wrap/partner calls, and direct links into prototype workflows.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D3CE1-37EB-464E-8D2C-52D5DE9C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10BC4B9-0F77-4A91-A61E-0E7D666B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strategy-page captures; stakeholder QA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BAD984-6C1E-4EF2-A15E-C42C591F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2CDDB3-3CC4-425D-A91F-2764F397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4524375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089389dbfd4549"/>
          <a:srcRect xmlns:a="http://schemas.openxmlformats.org/drawingml/2006/main" l="210" t="0" r="2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6300" y="1885950"/>
            <a:ext cx="4333875" cy="31432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16B9C5-2269-4F0F-8948-F16469B3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81600"/>
            <a:ext cx="433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Strategy page: market context and profile narrative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53EBF8-A4C5-41FE-8FD4-24FC0994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90700"/>
            <a:ext cx="4524375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7c33427f7416f"/>
          <a:srcRect xmlns:a="http://schemas.openxmlformats.org/drawingml/2006/main" l="210" t="0" r="2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1885950"/>
            <a:ext cx="4333875" cy="31432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F75B7-A29F-4006-B19C-CDBEB24C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81600"/>
            <a:ext cx="433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Strategy page: recommendations and prototype link targets</a:t>
            </a:r>
          </a:p>
        </p:txBody>
      </p:sp>
    </p:spTree>
    <p:extLst>
      <p:ext uri="{BB962C8B-B14F-4D97-AF65-F5344CB8AC3E}">
        <p14:creationId xmlns:p14="http://schemas.microsoft.com/office/powerpoint/2010/main" val="7868129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808D1A-7994-409E-B4D0-D6E447F5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2E295-47CF-4265-81C9-9B41E87E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Branch principals need exception workbench logic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2FB97F-1C85-4E7B-8D6E-B4FED150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The OSJ surface should turn home-office findings into local queueing, coaching, escalation, and evidence completion.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975B18-3B52-411F-900C-A8DA27DB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83C380E4-0284-4543-920A-30D0B23E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OSJ prototype capture; FINRA 2026 AOR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63CF6A-21CF-49D9-ACD5-55825005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2F681F-7CCE-465F-9632-71B12169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47800"/>
            <a:ext cx="44767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3b5ce8f10a4e84"/>
          <a:srcRect xmlns:a="http://schemas.openxmlformats.org/drawingml/2006/main" l="758" t="0" r="75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4150" y="1543050"/>
            <a:ext cx="4286250" cy="31432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8DC160-F106-45F6-90F5-AD9C681E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38700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Prototype evidence: OSJ / branch-principal dashboard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2628D-A182-46B9-B615-CB3BB610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860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6B0D5-4DD8-4C78-88F4-C11B4D9E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4495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Sort by client and regulatory impact, not timestamp only.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D06816-6A92-4898-A52A-31ABEA56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242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2D950C-CD8C-4282-8767-24D8E971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57600"/>
            <a:ext cx="4495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Show repeated rep patterns and coaching needs.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6513ED-9BCC-4469-A874-79017669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624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9A0712-8644-4AE8-BE73-D7B9C05A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95800"/>
            <a:ext cx="4495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Escalation packets preserve owner, due date, and evidence.</a:t>
            </a:r>
          </a:p>
        </p:txBody>
      </p:sp>
    </p:spTree>
    <p:extLst>
      <p:ext uri="{BB962C8B-B14F-4D97-AF65-F5344CB8AC3E}">
        <p14:creationId xmlns:p14="http://schemas.microsoft.com/office/powerpoint/2010/main" val="115517494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6BB24C-DA62-44C7-9DCD-2A2D0335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2ED2B-D8D2-499E-B29C-9D591BA9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Hybrid advisors need one relationship 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2BA3A9-F201-4929-9D04-15621498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The advisor-team view should expose blockers before the client conversation: suitability, account status, missing signatures, disclosure, and supervision holds.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93A839-EBA1-4865-864D-EFE6024E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56FD427A-C6F6-44C7-BD7A-98937595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hybrid-advisor prototype capture; J.D. Power; Fidelity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003779-26C6-44C2-89F1-A457F67A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FCD25C-2A88-4D44-833F-3D39314C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66850"/>
            <a:ext cx="4572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78007643a41f4"/>
          <a:srcRect xmlns:a="http://schemas.openxmlformats.org/drawingml/2006/main" l="0" t="334" r="0" b="3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1750" y="1562100"/>
            <a:ext cx="4381500" cy="31432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ED686D-4E5C-4A74-8C79-5A55DD83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57750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Prototype evidence: hybrid advisor / team dashboard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D277D4-B5CE-43CB-B445-AC459892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860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C3BDA3-AFC4-4E26-8379-3BF87A7E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4495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Unify advisory, brokerage, planning, annuity, and cash context.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D52E0E-45B4-427C-AF01-36157EE5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242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221108-DA08-44EE-B366-4C80CE75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57600"/>
            <a:ext cx="4495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Route blockers by team role, not only by individual advisor.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BDB44B-B074-40DE-9C16-42AE5BE0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624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865AB9-9B2A-421C-9F36-E108930A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95800"/>
            <a:ext cx="4495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Make approved AI and disclosure status visible inside reporting.</a:t>
            </a:r>
          </a:p>
        </p:txBody>
      </p:sp>
    </p:spTree>
    <p:extLst>
      <p:ext uri="{BB962C8B-B14F-4D97-AF65-F5344CB8AC3E}">
        <p14:creationId xmlns:p14="http://schemas.microsoft.com/office/powerpoint/2010/main" val="59936731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C361AF-3554-4941-93B7-C7D59318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F98E72-1D1E-48E0-9192-E42D009A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AI governance belongs in the report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BE00C9-5027-4FA5-BE4E-7C10A14A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Policy-aware narrative generation should expose approval state, data source, disclosure status, and review evidence before a client-ready output leaves the firm.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881CF-CBAD-4777-9AB3-EC3FAA89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83CED48-2F5F-4CA3-B785-0097809F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report-builder capture; FINRA GenAI; J.D. Power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E74DF8-78E5-4518-B473-C2B3232E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0B90AE-1E17-4F12-948E-C5F3BFD2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4667250" cy="2819400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646e24f7e4ba5"/>
          <a:srcRect xmlns:a="http://schemas.openxmlformats.org/drawingml/2006/main" l="0" t="9345" r="0" b="9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1676400"/>
            <a:ext cx="4476750" cy="2628900"/>
          </a:xfrm>
          <a:prstGeom xmlns:a="http://schemas.openxmlformats.org/drawingml/2006/main" prst="roundRect">
            <a:avLst>
              <a:gd name="adj" fmla="val 2899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AAC533-2EE5-40AA-B77B-5640FD71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577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Prototype evidence: report builder with compliance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8555A1-5483-45F0-9A4B-8D5646FB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C79BDB-DE3B-461C-9BE6-4C37D630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76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5A731-43D2-48DB-A2AA-140F540B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6230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Policy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D2474-D5A8-48BD-A3A4-77EB03E7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2425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Approved use case, disclosure status, and blocked language.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0819E1-AA32-4D07-A1FE-324714BB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ECDF1A-1C98-418B-864F-C0A83BE4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76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064D72-F595-44D8-97C3-45E6927F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16230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6E7B5-6B80-434F-B1C7-0C1FFCA6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52425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Prompt, source data, model context, owner, and reviewer.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2188CB-931D-4D5E-AE5E-9FCF0226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5000625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27CB3F-2548-4ADB-9124-6162B332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EE0D1C-AA53-4E69-90C1-739B2488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48200"/>
            <a:ext cx="45815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Client-ready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0464D-5BCB-47FB-BE23-6E19B04D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815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The advisor gets speed only when the firm can explain what happened and why it is approved.</a:t>
            </a:r>
          </a:p>
        </p:txBody>
      </p:sp>
    </p:spTree>
    <p:extLst>
      <p:ext uri="{BB962C8B-B14F-4D97-AF65-F5344CB8AC3E}">
        <p14:creationId xmlns:p14="http://schemas.microsoft.com/office/powerpoint/2010/main" val="10586664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4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7CA392-98A5-4B58-B080-6CBAEF36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A859"/>
                </a:solidFill>
              </a:defRPr>
            </a:pPr>
            <a:r>
              <a:rPr sz="1275" b="1">
                <a:solidFill>
                  <a:srgbClr val="00A859"/>
                </a:solidFill>
              </a:rPr>
              <a:t>03 / Recommendations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B523E6-1585-435C-84B6-9F876BE5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8572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Build the workflow layer that makes strategy measurable.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3524F6-9A3A-43C5-9D02-DC78CB72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DDE8EF"/>
                </a:solidFill>
              </a:defRPr>
            </a:pPr>
            <a:r>
              <a:rPr sz="1800" b="0">
                <a:solidFill>
                  <a:srgbClr val="DDE8EF"/>
                </a:solidFill>
              </a:rPr>
              <a:t>The next increment should privilege evidence, routing, and operating outcomes over additional persona copy.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9D8392-247B-4273-BF89-1F6903BB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5315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BF5356-7B08-4FC7-8AF1-70A118F2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Next: evidence, prototype implications, and 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CDEC9F-9673-44D4-92D6-D025500C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5081150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FC1D0A-2896-4027-84E7-4BECF2CC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45C88-83B9-4704-913F-AC265274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Recommendation 1: add an AI evidence ledger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3D6F09-C9E5-489A-972B-2C7A8E07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Every AI-assisted report narrative, summarization, proposal support action, or future agent action should carry policy, source, model, review, and retention context.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F15C4-D715-4183-80A8-4D62A900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4FCB282-4CAF-4519-B91E-FE56D074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FINRA GenAI; J.D. Power; prototype report builder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5835D-BB4E-4F0D-AE6D-4E897FC9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C2EB74-69EE-47A5-9469-A4DEC5FE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2476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25CBD-F31D-4A6D-B54C-BD15B60D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B20992-B554-4613-BB4F-09394A15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7185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What to add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2C28A6-71C7-4F7A-AC69-1890FE42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Ledger attached to report narratives and advisor actions.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F1FC4-93D9-46F5-B1DC-C06CCE60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81350"/>
            <a:ext cx="2476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726E8-A5BD-40A3-92FB-2FDDCF14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813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9DDE8B-42CA-455C-955C-503DB100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37185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What it proves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D0522-317A-49DD-A673-41B6D33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338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Use case, data source, model/version, reviewer, artifact status.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F6BEFD-A0EE-4679-8121-B3C3B68F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81350"/>
            <a:ext cx="2476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A3950B-6633-41B6-A482-F0613009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813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0DE056-7BF6-40D1-B667-A262D31E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7185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Where it appears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A856C2-A135-49A5-AE0A-437211CE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338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Report builder, AI queue, supervision packet, strategy links.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A39267-866F-4D10-ADA1-4833E3A1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81350"/>
            <a:ext cx="24003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D1138F-38F3-463C-BF15-E4CA1D86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813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B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A6FDA5-2807-4901-8DA2-55F7C206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718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Why now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3829FF-C54F-43F4-B72C-3DA48117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733800"/>
            <a:ext cx="1981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AI is a productivity driver and a supervision burden.</a:t>
            </a:r>
          </a:p>
        </p:txBody>
      </p:sp>
    </p:spTree>
    <p:extLst>
      <p:ext uri="{BB962C8B-B14F-4D97-AF65-F5344CB8AC3E}">
        <p14:creationId xmlns:p14="http://schemas.microsoft.com/office/powerpoint/2010/main" val="136102260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0C5F45-B78B-46C0-89CF-BAA29AAC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B4C8E3-8956-41BC-AFF2-F101AC70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Recommendation 2: replace archive badges with retention rationale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8FC467-23F3-4C87-9E92-EDE7B8CE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The product should explain why an artifact is retained, excluded, pending review, or escalated so supervision can close the loop with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C1852D-B09B-43F8-B81F-D110E5DA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FA4C7F4A-986D-42C9-9D56-1CB81747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SIFMA retention sources; Global Relay 2026; prototype operating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75E04-C558-4291-9A72-C8605CD9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CE54AF-0A7A-4B4D-87E6-31C967C0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30480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FD312-4A11-4948-B02C-FF150D5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B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D854D9-A749-4111-A850-70D6C754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7185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Current pattern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473B7-A992-4DC1-A56E-53F66C16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33800"/>
            <a:ext cx="262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Archive state is visible but does not explain review rationale or operational noise.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218FC3-25AB-4EB0-9055-0B6C8CF3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81350"/>
            <a:ext cx="30480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C95696-DFFF-4A96-8FEB-EA70F126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8135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4E9D60-5892-4D87-9CE2-CF2631BD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37185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Target behavior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7A0DC4-1F30-4804-804B-FBCC7DC7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733800"/>
            <a:ext cx="2628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Reason code, channel policy, client-facing status, reviewer, and evidence packet.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B23AD8-CA78-4CB2-A979-8875BFA9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81350"/>
            <a:ext cx="26670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87DA88-7135-48FB-B160-8D3DF311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81350"/>
            <a:ext cx="76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4326BA-2A7B-4236-B6F7-B6C5A7E6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7185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Decision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EFF25B-2579-4EED-A81A-EE140218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733800"/>
            <a:ext cx="22479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Partner for capture; build the workflow rationale layer.</a:t>
            </a:r>
          </a:p>
        </p:txBody>
      </p:sp>
    </p:spTree>
    <p:extLst>
      <p:ext uri="{BB962C8B-B14F-4D97-AF65-F5344CB8AC3E}">
        <p14:creationId xmlns:p14="http://schemas.microsoft.com/office/powerpoint/2010/main" val="10418935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614DE8-8B55-488B-9AB6-8C5336FC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0CF1A-F2D9-48B8-8649-A52377FA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Advisor AI effectiveness is a retention signal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CA8357-18ED-45C2-9DD9-AAA238F2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Home office should connect AI usage, training, support load, exceptions, and satisfaction before attrition risk appears.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929E9C-AA4A-4457-9C2F-432AC73B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34CF376E-449E-424C-BA9E-27060886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J.D. Power 2026; Fidelity 2026 trends; analytics capture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C1082D-6E52-441A-B768-C53DA259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81E49-7741-471D-A72C-293CE04A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71650"/>
            <a:ext cx="39052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949e693468d"/>
          <a:srcRect xmlns:a="http://schemas.openxmlformats.org/drawingml/2006/main" l="1769" t="0" r="176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1866900"/>
            <a:ext cx="3714750" cy="2781300"/>
          </a:xfrm>
          <a:prstGeom xmlns:a="http://schemas.openxmlformats.org/drawingml/2006/main" prst="roundRect">
            <a:avLst>
              <a:gd name="adj" fmla="val 2740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1EB3E-143B-412C-B50B-19EBAD36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Prototype evidence: home-office analytics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9F55B-F819-4371-A914-1EF24801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2324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B920A9-3A45-4AE3-A9DB-1DBBDDA9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861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Employee advisors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1587CD-8F71-4F59-844A-62784A03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718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6B3F"/>
                </a:solidFill>
              </a:defRPr>
            </a:pPr>
            <a:r>
              <a:rPr sz="2550" b="1">
                <a:solidFill>
                  <a:srgbClr val="006B3F"/>
                </a:solidFill>
              </a:rPr>
              <a:t>632 -&gt; 781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DAD0DC-5EA9-41EA-8065-CABD7077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E6B7E"/>
                </a:solidFill>
              </a:defRPr>
            </a:pPr>
            <a:r>
              <a:rPr sz="1125" b="0">
                <a:solidFill>
                  <a:srgbClr val="5E6B7E"/>
                </a:solidFill>
              </a:rPr>
              <a:t>satisfaction when firm AI is effective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2F2152-5ED0-4AA0-B6BC-F031D6F0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14650"/>
            <a:ext cx="2324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B005D8-3BE9-463C-8480-818CB3E6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0861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Independent advisors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3A3A96-1EAA-4375-B9AF-1462CB89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3718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5B4BB2"/>
                </a:solidFill>
              </a:defRPr>
            </a:pPr>
            <a:r>
              <a:rPr sz="2550" b="1">
                <a:solidFill>
                  <a:srgbClr val="5B4BB2"/>
                </a:solidFill>
              </a:rPr>
              <a:t>688 -&gt; 826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FC470-EFCF-4B79-8A43-BEB3913A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7528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E6B7E"/>
                </a:solidFill>
              </a:defRPr>
            </a:pPr>
            <a:r>
              <a:rPr sz="1125" b="0">
                <a:solidFill>
                  <a:srgbClr val="5E6B7E"/>
                </a:solidFill>
              </a:rPr>
              <a:t>satisfaction when firm AI is effective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089F50-60CE-461A-B591-3A79EAAF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4953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72033"/>
                </a:solidFill>
              </a:defRPr>
            </a:pPr>
            <a:r>
              <a:rPr sz="1575" b="0">
                <a:solidFill>
                  <a:srgbClr val="172033"/>
                </a:solidFill>
              </a:rPr>
              <a:t>Design implication: adoption telemetry is not vanity analytics; it is an early-warning system for platform value, training gaps, and advisor-retention pressure.</a:t>
            </a:r>
          </a:p>
        </p:txBody>
      </p:sp>
    </p:spTree>
    <p:extLst>
      <p:ext uri="{BB962C8B-B14F-4D97-AF65-F5344CB8AC3E}">
        <p14:creationId xmlns:p14="http://schemas.microsoft.com/office/powerpoint/2010/main" val="153803403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44171C-A697-405E-8FDC-A796697F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6258FE-2A63-47C1-B3B9-3D926730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The next 90 days should create testable operating loops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F25BFC-4ED7-4890-AE0A-3947DD39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0">
                <a:solidFill>
                  <a:srgbClr val="5E6B7E"/>
                </a:solidFill>
              </a:defRPr>
            </a:pPr>
            <a:r>
              <a:rPr sz="1650" b="0">
                <a:solidFill>
                  <a:srgbClr val="5E6B7E"/>
                </a:solidFill>
              </a:rPr>
              <a:t>Prioritize the few build moves that make workflow proof visible, then validate with home-office, OSJ, and advisor-team users.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5F1859-5583-4686-B941-B9F715E1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F315E20-BFAB-4E5E-8EAD-3F02A37C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strategy packet; prototype captures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F8DB29-9F44-415F-AC46-D154B9B6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74E0A8-2FF3-4174-B6E3-3BF7379E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290512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1DCD6-A5D4-4398-8751-FEE9B2AE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06B3F"/>
                </a:solidFill>
              </a:defRPr>
            </a:pPr>
            <a:r>
              <a:rPr sz="1200" b="1">
                <a:solidFill>
                  <a:srgbClr val="006B3F"/>
                </a:solidFill>
              </a:rPr>
              <a:t>0-30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787E58-A8FF-4BAF-9334-608DDC74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2905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Clean boundary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46988E-D926-4A4A-8A29-FC30E87F2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43400"/>
            <a:ext cx="230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E6B7E"/>
                </a:solidFill>
              </a:defRPr>
            </a:pPr>
            <a:r>
              <a:rPr sz="1275" b="0">
                <a:solidFill>
                  <a:srgbClr val="5E6B7E"/>
                </a:solidFill>
              </a:rPr>
              <a:t>Remove strategy bleed from dashboards; add recommendation links from strategy to prototype contexts.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8E6E5C-924E-4919-8E14-35198CBF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124200"/>
            <a:ext cx="290512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82877C-420B-48C2-8959-4E0F9C04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429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06B3F"/>
                </a:solidFill>
              </a:defRPr>
            </a:pPr>
            <a:r>
              <a:rPr sz="1200" b="1">
                <a:solidFill>
                  <a:srgbClr val="006B3F"/>
                </a:solidFill>
              </a:rPr>
              <a:t>31-60 days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691B6-98E5-4F3F-901A-54F0C358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82905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Evidence layer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79AE22-6EB8-42AA-A6A6-9F85425A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43400"/>
            <a:ext cx="230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E6B7E"/>
                </a:solidFill>
              </a:defRPr>
            </a:pPr>
            <a:r>
              <a:rPr sz="1275" b="0">
                <a:solidFill>
                  <a:srgbClr val="5E6B7E"/>
                </a:solidFill>
              </a:rPr>
              <a:t>Add AI evidence ledger and retention rationale panel to report and supervision flows.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6DDF1F-CD11-4107-889A-381469DE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24200"/>
            <a:ext cx="290512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201DD4-44E0-4A7F-B09F-CD70A788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29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06B3F"/>
                </a:solidFill>
              </a:defRPr>
            </a:pPr>
            <a:r>
              <a:rPr sz="1200" b="1">
                <a:solidFill>
                  <a:srgbClr val="006B3F"/>
                </a:solidFill>
              </a:rPr>
              <a:t>61-90 days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239358-7E8A-41F2-9A77-EAD0B4F9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2905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Pilot telemetry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F6B000-DD1B-460E-8F23-F50030B4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43400"/>
            <a:ext cx="230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E6B7E"/>
                </a:solidFill>
              </a:defRPr>
            </a:pPr>
            <a:r>
              <a:rPr sz="1275" b="0">
                <a:solidFill>
                  <a:srgbClr val="5E6B7E"/>
                </a:solidFill>
              </a:rPr>
              <a:t>Instrument advisor AI effectiveness, support load, blocker ownership, and retention watchlist signals.</a:t>
            </a:r>
          </a:p>
        </p:txBody>
      </p:sp>
    </p:spTree>
    <p:extLst>
      <p:ext uri="{BB962C8B-B14F-4D97-AF65-F5344CB8AC3E}">
        <p14:creationId xmlns:p14="http://schemas.microsoft.com/office/powerpoint/2010/main" val="3943880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068FF8-C901-4E27-93A1-31ADC7DB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6B3F"/>
                </a:solidFill>
              </a:defRPr>
            </a:pPr>
            <a:r>
              <a:rPr sz="1125" b="1">
                <a:solidFill>
                  <a:srgbClr val="006B3F"/>
                </a:solidFill>
              </a:rPr>
              <a:t>WEALTHSCAPE REPORTING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9B60A8-11D1-4CE3-B37A-58735E18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810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172033"/>
                </a:solidFill>
              </a:defRPr>
            </a:pPr>
            <a:r>
              <a:rPr sz="3300" b="1">
                <a:solidFill>
                  <a:srgbClr val="172033"/>
                </a:solidFill>
              </a:rPr>
              <a:t>Bibliography and evidence 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C013D-7DF6-432E-8FAE-7F2F650C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4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E8E7E6B-0DEF-4563-80E5-FC5498AB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E6B7E"/>
                </a:solidFill>
              </a:defRPr>
            </a:pPr>
            <a:r>
              <a:rPr sz="1050" b="0">
                <a:solidFill>
                  <a:srgbClr val="5E6B7E"/>
                </a:solidFill>
              </a:rPr>
              <a:t>Evidence: bibliography compiled July 30,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BD13CD-757D-4BC5-809D-C03FFD4D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E6B7E"/>
                </a:solidFill>
              </a:defRPr>
            </a:pPr>
            <a:r>
              <a:rPr sz="1050" b="1">
                <a:solidFill>
                  <a:srgbClr val="5E6B7E"/>
                </a:solidFill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5B26B-E60F-43F2-9465-41247284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Public sources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971C6-C95E-445F-9064-5F56A31D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4953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FINRA 2026 Annual Regulatory Oversight Report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FINRA GenAI topic page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FINRA Artificial Intelligence topic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SIFMA 2025 Capital Markets Fact Book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J.D. Power 2026 U.S. Financial Advisor Satisfaction Study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Global Relay Industry Insights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941F19-35BE-46D3-9BFF-04D07DFF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Fidelity Institutional wealth management trends for 2026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Envestnet R2 2026 platform announcement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Envestnet AI explainability announcement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Addepar for Wealth Management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Addepar 2026 AI/data/workflow positioning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0D929C-2A76-493B-915E-5D54AC87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76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Internal and prototype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207562-CC8A-49A1-A778-113406A8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Broker-dealer strategy expansion packet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Strategy lane prompts and implementation trail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E6B7E"/>
                </a:solidFill>
              </a:defRPr>
            </a:pPr>
            <a:r>
              <a:rPr sz="1200" b="0">
                <a:solidFill>
                  <a:srgbClr val="5E6B7E"/>
                </a:solidFill>
              </a:rPr>
              <a:t>- Prototype screenshots captured from Wealthscape Reporting 2.0</a:t>
            </a:r>
          </a:p>
        </p:txBody>
      </p:sp>
    </p:spTree>
    <p:extLst>
      <p:ext uri="{BB962C8B-B14F-4D97-AF65-F5344CB8AC3E}">
        <p14:creationId xmlns:p14="http://schemas.microsoft.com/office/powerpoint/2010/main" val="19331904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2026-07-30T19:30:23.0550000Z</dcterms:created>
  <dcterms:modified xsi:type="dcterms:W3CDTF">2026-07-30T19:30:23.0550000Z</dcterms:modified>
</coreProperties>
</file>