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d0358176554fbc" /><Relationship Type="http://schemas.openxmlformats.org/officeDocument/2006/relationships/extended-properties" Target="/docProps/app.xml" Id="R887ee6c757b44ce7" /><Relationship Type="http://schemas.openxmlformats.org/officeDocument/2006/relationships/officeDocument" Target="/ppt/presentation.xml" Id="Ra450540215114f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011c46956b41a7"/>
  </p:sldMasterIdLst>
  <p:notesMasterIdLst>
    <p:notesMasterId xmlns:r="http://schemas.openxmlformats.org/officeDocument/2006/relationships" r:id="R7d00f368f28745fe"/>
  </p:notesMasterIdLst>
  <p:sldIdLst>
    <p:sldId xmlns:r="http://schemas.openxmlformats.org/officeDocument/2006/relationships" id="256" r:id="Rac74746cbc4e463e"/>
    <p:sldId xmlns:r="http://schemas.openxmlformats.org/officeDocument/2006/relationships" id="257" r:id="R2d403be1e6394acc"/>
    <p:sldId xmlns:r="http://schemas.openxmlformats.org/officeDocument/2006/relationships" id="258" r:id="R259b60b948154fa3"/>
    <p:sldId xmlns:r="http://schemas.openxmlformats.org/officeDocument/2006/relationships" id="259" r:id="Rb1a11d686fd74151"/>
    <p:sldId xmlns:r="http://schemas.openxmlformats.org/officeDocument/2006/relationships" id="260" r:id="R488398c4018a4ad1"/>
    <p:sldId xmlns:r="http://schemas.openxmlformats.org/officeDocument/2006/relationships" id="261" r:id="R5eb3cd0d55f443e2"/>
    <p:sldId xmlns:r="http://schemas.openxmlformats.org/officeDocument/2006/relationships" id="262" r:id="R75ae757106844d09"/>
    <p:sldId xmlns:r="http://schemas.openxmlformats.org/officeDocument/2006/relationships" id="263" r:id="R675b20a7ee1d4e45"/>
    <p:sldId xmlns:r="http://schemas.openxmlformats.org/officeDocument/2006/relationships" id="264" r:id="R4cb7a5db15d541df"/>
    <p:sldId xmlns:r="http://schemas.openxmlformats.org/officeDocument/2006/relationships" id="265" r:id="R3cea657206b04352"/>
    <p:sldId xmlns:r="http://schemas.openxmlformats.org/officeDocument/2006/relationships" id="266" r:id="Rd8cd7d74ba0a4e34"/>
    <p:sldId xmlns:r="http://schemas.openxmlformats.org/officeDocument/2006/relationships" id="267" r:id="Rcb4478da90694403"/>
    <p:sldId xmlns:r="http://schemas.openxmlformats.org/officeDocument/2006/relationships" id="268" r:id="Rdc7362555be74d35"/>
    <p:sldId xmlns:r="http://schemas.openxmlformats.org/officeDocument/2006/relationships" id="269" r:id="R095505e3541841d3"/>
    <p:sldId xmlns:r="http://schemas.openxmlformats.org/officeDocument/2006/relationships" id="270" r:id="R1fd4cc05b957450f"/>
    <p:sldId xmlns:r="http://schemas.openxmlformats.org/officeDocument/2006/relationships" id="271" r:id="R40145ac071964463"/>
    <p:sldId xmlns:r="http://schemas.openxmlformats.org/officeDocument/2006/relationships" id="272" r:id="Rcd8e485a697540fa"/>
    <p:sldId xmlns:r="http://schemas.openxmlformats.org/officeDocument/2006/relationships" id="273" r:id="Ree83d3120b36401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c063d4d71c407b" /><Relationship Type="http://schemas.openxmlformats.org/officeDocument/2006/relationships/slideMaster" Target="/ppt/slideMasters/slideMaster1.xml" Id="Raa011c46956b41a7" /><Relationship Type="http://schemas.openxmlformats.org/officeDocument/2006/relationships/notesMaster" Target="/ppt/notesMasters/notesMaster1.xml" Id="R7d00f368f28745fe" /><Relationship Type="http://schemas.openxmlformats.org/officeDocument/2006/relationships/presProps" Target="/ppt/presProps.xml" Id="R92c4d159cb174e72" /><Relationship Type="http://schemas.openxmlformats.org/officeDocument/2006/relationships/tableStyles" Target="/ppt/tableStyles.xml" Id="Rd7c6f51922b2477c" /><Relationship Type="http://schemas.openxmlformats.org/officeDocument/2006/relationships/slide" Target="/ppt/slides/slide1.xml" Id="Rac74746cbc4e463e" /><Relationship Type="http://schemas.openxmlformats.org/officeDocument/2006/relationships/slide" Target="/ppt/slides/slide2.xml" Id="R2d403be1e6394acc" /><Relationship Type="http://schemas.openxmlformats.org/officeDocument/2006/relationships/slide" Target="/ppt/slides/slide3.xml" Id="R259b60b948154fa3" /><Relationship Type="http://schemas.openxmlformats.org/officeDocument/2006/relationships/slide" Target="/ppt/slides/slide4.xml" Id="Rb1a11d686fd74151" /><Relationship Type="http://schemas.openxmlformats.org/officeDocument/2006/relationships/slide" Target="/ppt/slides/slide5.xml" Id="R488398c4018a4ad1" /><Relationship Type="http://schemas.openxmlformats.org/officeDocument/2006/relationships/slide" Target="/ppt/slides/slide6.xml" Id="R5eb3cd0d55f443e2" /><Relationship Type="http://schemas.openxmlformats.org/officeDocument/2006/relationships/slide" Target="/ppt/slides/slide7.xml" Id="R75ae757106844d09" /><Relationship Type="http://schemas.openxmlformats.org/officeDocument/2006/relationships/slide" Target="/ppt/slides/slide8.xml" Id="R675b20a7ee1d4e45" /><Relationship Type="http://schemas.openxmlformats.org/officeDocument/2006/relationships/slide" Target="/ppt/slides/slide9.xml" Id="R4cb7a5db15d541df" /><Relationship Type="http://schemas.openxmlformats.org/officeDocument/2006/relationships/slide" Target="/ppt/slides/slide10.xml" Id="R3cea657206b04352" /><Relationship Type="http://schemas.openxmlformats.org/officeDocument/2006/relationships/slide" Target="/ppt/slides/slide11.xml" Id="Rd8cd7d74ba0a4e34" /><Relationship Type="http://schemas.openxmlformats.org/officeDocument/2006/relationships/slide" Target="/ppt/slides/slide12.xml" Id="Rcb4478da90694403" /><Relationship Type="http://schemas.openxmlformats.org/officeDocument/2006/relationships/slide" Target="/ppt/slides/slide13.xml" Id="Rdc7362555be74d35" /><Relationship Type="http://schemas.openxmlformats.org/officeDocument/2006/relationships/slide" Target="/ppt/slides/slide14.xml" Id="R095505e3541841d3" /><Relationship Type="http://schemas.openxmlformats.org/officeDocument/2006/relationships/slide" Target="/ppt/slides/slide15.xml" Id="R1fd4cc05b957450f" /><Relationship Type="http://schemas.openxmlformats.org/officeDocument/2006/relationships/slide" Target="/ppt/slides/slide16.xml" Id="R40145ac071964463" /><Relationship Type="http://schemas.openxmlformats.org/officeDocument/2006/relationships/slide" Target="/ppt/slides/slide17.xml" Id="Rcd8e485a697540fa" /><Relationship Type="http://schemas.openxmlformats.org/officeDocument/2006/relationships/slide" Target="/ppt/slides/slide18.xml" Id="Ree83d3120b3640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868235277c41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2911089b1d4ec3" /><Relationship Type="http://schemas.openxmlformats.org/officeDocument/2006/relationships/notesMaster" Target="/ppt/notesMasters/notesMaster1.xml" Id="R97f8b222b4e642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393b38f586e4c32" /><Relationship Type="http://schemas.openxmlformats.org/officeDocument/2006/relationships/notesMaster" Target="/ppt/notesMasters/notesMaster1.xml" Id="R663db509209540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f4541013b814cd3" /><Relationship Type="http://schemas.openxmlformats.org/officeDocument/2006/relationships/notesMaster" Target="/ppt/notesMasters/notesMaster1.xml" Id="Rdcda6d27d58c41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9d350ab57d4706" /><Relationship Type="http://schemas.openxmlformats.org/officeDocument/2006/relationships/notesMaster" Target="/ppt/notesMasters/notesMaster1.xml" Id="Ref8746fb98be4d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b0633bdbfc44fb1" /><Relationship Type="http://schemas.openxmlformats.org/officeDocument/2006/relationships/notesMaster" Target="/ppt/notesMasters/notesMaster1.xml" Id="Rbcb622e85ac544d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1cbe29361ec4574" /><Relationship Type="http://schemas.openxmlformats.org/officeDocument/2006/relationships/notesMaster" Target="/ppt/notesMasters/notesMaster1.xml" Id="Rf7a3c53e30ba49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443b8f4d1a4f88" /><Relationship Type="http://schemas.openxmlformats.org/officeDocument/2006/relationships/notesMaster" Target="/ppt/notesMasters/notesMaster1.xml" Id="R5a750a203a8240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5de6269035441ea" /><Relationship Type="http://schemas.openxmlformats.org/officeDocument/2006/relationships/notesMaster" Target="/ppt/notesMasters/notesMaster1.xml" Id="R5e510cb5f659466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da917a363634949" /><Relationship Type="http://schemas.openxmlformats.org/officeDocument/2006/relationships/notesMaster" Target="/ppt/notesMasters/notesMaster1.xml" Id="R4e5e71d6a8d34a8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48206dc1c614162" /><Relationship Type="http://schemas.openxmlformats.org/officeDocument/2006/relationships/notesMaster" Target="/ppt/notesMasters/notesMaster1.xml" Id="Rb0c6dff911654a1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e3b7349f6374ead" /><Relationship Type="http://schemas.openxmlformats.org/officeDocument/2006/relationships/notesMaster" Target="/ppt/notesMasters/notesMaster1.xml" Id="R0117fff0936f443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8ad8e98d1dd4036" /><Relationship Type="http://schemas.openxmlformats.org/officeDocument/2006/relationships/notesMaster" Target="/ppt/notesMasters/notesMaster1.xml" Id="R1f382b062226447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c9169a989204b48" /><Relationship Type="http://schemas.openxmlformats.org/officeDocument/2006/relationships/notesMaster" Target="/ppt/notesMasters/notesMaster1.xml" Id="R33f064ff94184f5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a5919bfb78549ed" /><Relationship Type="http://schemas.openxmlformats.org/officeDocument/2006/relationships/notesMaster" Target="/ppt/notesMasters/notesMaster1.xml" Id="Rba9907ec16284f7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4ad9160f2244882" /><Relationship Type="http://schemas.openxmlformats.org/officeDocument/2006/relationships/notesMaster" Target="/ppt/notesMasters/notesMaster1.xml" Id="R56686271892c4f9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590e848c8b743c7" /><Relationship Type="http://schemas.openxmlformats.org/officeDocument/2006/relationships/notesMaster" Target="/ppt/notesMasters/notesMaster1.xml" Id="Ra1788f8541c44ad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73e2c96386242d7" /><Relationship Type="http://schemas.openxmlformats.org/officeDocument/2006/relationships/notesMaster" Target="/ppt/notesMasters/notesMaster1.xml" Id="R7f9a4fffa0c74a1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f768d8cbe2b49d2" /><Relationship Type="http://schemas.openxmlformats.org/officeDocument/2006/relationships/notesMaster" Target="/ppt/notesMasters/notesMaster1.xml" Id="R1819032fd24649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Wealthscape Reporting 2.0 prototype and source, accessed July 30, 2026: https://wealthscape-reporting.vercel.app</a:t>
            </a:r>
          </a:p>
          <a:p xmlns:a="http://schemas.openxmlformats.org/drawingml/2006/main">
            <a:r>
              <a:t>- Broker-Dealer Strategy Expansion Research Packet, repo docs, July 2026: docs/broker-dealer-strategy-expansion.md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Executive summary of work completed.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Broker-Dealer Strategy Expansion Research Packet, repo docs, July 2026: docs/broker-dealer-strategy-expansion.md</a:t>
            </a:r>
          </a:p>
          <a:p xmlns:a="http://schemas.openxmlformats.org/drawingml/2006/main">
            <a:r>
              <a:t>- Wealthscape Reporting 2.0 prototype and source, accessed July 30, 2026: https://wealthscape-reporting.vercel.app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Section divider.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FINRA 2026 Industry Snapshot: https://www.finra.org/media-center/newsreleases/2026/finra-publishes-2026-industry-snapshot</a:t>
            </a:r>
          </a:p>
          <a:p xmlns:a="http://schemas.openxmlformats.org/drawingml/2006/main">
            <a:r>
              <a:t>- SIFMA 2025 Capital Markets Fact Book: https://www.sifma.org/research/statistics/fact-book</a:t>
            </a:r>
          </a:p>
          <a:p xmlns:a="http://schemas.openxmlformats.org/drawingml/2006/main">
            <a:r>
              <a:t>- FINRA 2026 GenAI topic page: https://www.finra.org/rules-guidance/guidance/reports/2026-finra-annual-regulatory-oversight-report/gen-ai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make the scale argument before introducing the prototype.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SIFMA 2025 Capital Markets Fact Book: https://www.sifma.org/research/statistics/fact-book</a:t>
            </a:r>
          </a:p>
          <a:p xmlns:a="http://schemas.openxmlformats.org/drawingml/2006/main">
            <a:r>
              <a:t>- FINRA 2026 Industry Snapshot: https://www.finra.org/media-center/newsreleases/2026/finra-publishes-2026-industry-snapshot</a:t>
            </a:r>
          </a:p>
          <a:p xmlns:a="http://schemas.openxmlformats.org/drawingml/2006/main">
            <a:r>
              <a:t>- FINRA 2026 Annual Regulatory Oversight Report: https://www.finra.org/rules-guidance/guidance/reports/2026-finra-annual-regulatory-oversight-report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Method and IA separation.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Broker-Dealer Strategy Expansion Research Packet, repo docs, July 2026: docs/broker-dealer-strategy-expansion.md</a:t>
            </a:r>
          </a:p>
          <a:p xmlns:a="http://schemas.openxmlformats.org/drawingml/2006/main">
            <a:r>
              <a:t>- Wealthscape Reporting 2.0 prototype and source, accessed July 30, 2026: https://wealthscape-reporting.vercel.app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Persona registry summary.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Broker-Dealer Strategy Expansion Research Packet, repo docs, July 2026: docs/broker-dealer-strategy-expansion.md</a:t>
            </a:r>
          </a:p>
          <a:p xmlns:a="http://schemas.openxmlformats.org/drawingml/2006/main">
            <a:r>
              <a:t>- Wealthscape Reporting 2.0 prototype and source, accessed July 30, 2026: https://wealthscape-reporting.vercel.app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Section divider for prototype screenshots.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Wealthscape Reporting 2.0 prototype and source, accessed July 30, 2026: https://wealthscape-reporting.vercel.app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captured locally from main branch prototype on July 30,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Wealthscape Reporting 2.0 prototype and source, accessed July 30, 2026: https://wealthscape-reporting.vercel.app</a:t>
            </a:r>
          </a:p>
          <a:p xmlns:a="http://schemas.openxmlformats.org/drawingml/2006/main">
            <a:r>
              <a:t>- Broker-Dealer Strategy Expansion Research Packet, repo docs, July 2026: docs/broker-dealer-strategy-expansion.md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Strategy tab link pattern.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Wealthscape Reporting 2.0 prototype and source, accessed July 30, 2026: https://wealthscape-reporting.vercel.app</a:t>
            </a:r>
          </a:p>
          <a:p xmlns:a="http://schemas.openxmlformats.org/drawingml/2006/main">
            <a:r>
              <a:t>- Broker-Dealer Strategy Expansion Research Packet, repo docs, July 2026: docs/broker-dealer-strategy-expansion.md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OSJ and hybrid screenshots captured locally.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Wealthscape Reporting 2.0 prototype and source, accessed July 30, 2026: https://wealthscape-reporting.vercel.app</a:t>
            </a:r>
          </a:p>
          <a:p xmlns:a="http://schemas.openxmlformats.org/drawingml/2006/main">
            <a:r>
              <a:t>- Broker-Dealer Strategy Expansion Research Packet, repo docs, July 2026: docs/broker-dealer-strategy-expansion.md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Section divider for recommendations.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Broker-Dealer Strategy Expansion Research Packet, repo docs, July 2026: docs/broker-dealer-strategy-expansion.md</a:t>
            </a:r>
          </a:p>
          <a:p xmlns:a="http://schemas.openxmlformats.org/drawingml/2006/main">
            <a:r>
              <a:t>- FINRA 2026 GenAI topic page: https://www.finra.org/rules-guidance/guidance/reports/2026-finra-annual-regulatory-oversight-report/gen-ai</a:t>
            </a:r>
          </a:p>
          <a:p xmlns:a="http://schemas.openxmlformats.org/drawingml/2006/main">
            <a:r>
              <a:t>- SIFMA communications-retention modernization letters, 2025-2026: https://www.sifma.org/advocacy/letters/data-supporting-the-modernization-of-the-communications-retention-requirements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Recommendation synthesis.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Broker-Dealer Strategy Expansion Research Packet, repo docs, July 2026: docs/broker-dealer-strategy-expansion.md</a:t>
            </a:r>
          </a:p>
          <a:p xmlns:a="http://schemas.openxmlformats.org/drawingml/2006/main">
            <a:r>
              <a:t>- FINRA 2026 GenAI topic page: https://www.finra.org/rules-guidance/guidance/reports/2026-finra-annual-regulatory-oversight-report/gen-ai</a:t>
            </a:r>
          </a:p>
          <a:p xmlns:a="http://schemas.openxmlformats.org/drawingml/2006/main">
            <a:r>
              <a:t>- SIFMA communications-retention modernization letters, 2025-2026: https://www.sifma.org/advocacy/letters/data-supporting-the-modernization-of-the-communications-retention-requirements</a:t>
            </a:r>
          </a:p>
          <a:p xmlns:a="http://schemas.openxmlformats.org/drawingml/2006/main">
            <a:r>
              <a:t>- J.D. Power 2026 U.S. Financial Advisor Satisfaction Study: https://www.jdpower.com/business/press-releases/2026-u-s-financial-advisor-satisfaction-study/</a:t>
            </a:r>
          </a:p>
          <a:p xmlns:a="http://schemas.openxmlformats.org/drawingml/2006/main">
            <a:r>
              <a:t>- Fidelity Institutional Wealth Management Trends for 2026: https://clearingcustody.fidelity.com/insights/topics/running-your-business/wealth-management-trends-for-2026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Build/buy/partner/wrap matrix.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Broker-Dealer Strategy Expansion Research Packet, repo docs, July 2026: docs/broker-dealer-strategy-expansion.md</a:t>
            </a:r>
          </a:p>
          <a:p xmlns:a="http://schemas.openxmlformats.org/drawingml/2006/main">
            <a:r>
              <a:t>- Global Relay Industry Insights 2026: https://www.globalrelay.com/resources/guides-reports/industry-insights-2026/</a:t>
            </a:r>
          </a:p>
          <a:p xmlns:a="http://schemas.openxmlformats.org/drawingml/2006/main">
            <a:r>
              <a:t>- Envestnet R2 2026 wealth platform release: https://newsroom.envestnet.com/2026-05-19-LIVE-FROM-ELEVATE-2026-Envestnet-Unveils-AI-Driven-Enhancements-and-Accelerates-Financial-Planning-Integration-for-Advisors-on-its-Wealth-Management-Platform</a:t>
            </a:r>
          </a:p>
          <a:p xmlns:a="http://schemas.openxmlformats.org/drawingml/2006/main">
            <a:r>
              <a:t>- Addepar wealth management positioning: https://addepar.com/wealth-management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Recommended roadmap.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Broker-Dealer Strategy Expansion Research Packet, repo docs, July 2026: docs/broker-dealer-strategy-expansion.md</a:t>
            </a:r>
          </a:p>
          <a:p xmlns:a="http://schemas.openxmlformats.org/drawingml/2006/main">
            <a:r>
              <a:t>- Wealthscape Reporting 2.0 prototype and source, accessed July 30, 2026: https://wealthscape-reporting.vercel.app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KPI frame.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Wealthscape Reporting 2.0 prototype and source, accessed July 30, 2026: https://wealthscape-reporting.vercel.app</a:t>
            </a:r>
          </a:p>
          <a:p xmlns:a="http://schemas.openxmlformats.org/drawingml/2006/main">
            <a:r>
              <a:t>- Broker-Dealer Strategy Expansion Research Packet, repo docs, July 2026: docs/broker-dealer-strategy-expansion.md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implementation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Broker-Dealer Strategy Expansion Research Packet, repo docs, July 2026: docs/broker-dealer-strategy-expansion.md</a:t>
            </a:r>
          </a:p>
          <a:p xmlns:a="http://schemas.openxmlformats.org/drawingml/2006/main">
            <a:r>
              <a:t>- Wealthscape Reporting 2.0 prototype and source, accessed July 30, 2026: https://wealthscape-reporting.vercel.app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Bibliography slide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Wealthscape Reporting 2.0 prototype and source, accessed July 30, 2026: https://wealthscape-reporting.vercel.app</a:t>
            </a:r>
          </a:p>
          <a:p xmlns:a="http://schemas.openxmlformats.org/drawingml/2006/main">
            <a:r>
              <a:t>- Broker-Dealer Strategy Expansion Research Packet, repo docs, July 2026: docs/broker-dealer-strategy-expansion.md</a:t>
            </a:r>
          </a:p>
          <a:p xmlns:a="http://schemas.openxmlformats.org/drawingml/2006/main">
            <a:r>
              <a:t>- FINRA 2026 Industry Snapshot: https://www.finra.org/media-center/newsreleases/2026/finra-publishes-2026-industry-snapshot</a:t>
            </a:r>
          </a:p>
          <a:p xmlns:a="http://schemas.openxmlformats.org/drawingml/2006/main">
            <a:r>
              <a:t>- FINRA 2026 Annual Regulatory Oversight Report: https://www.finra.org/rules-guidance/guidance/reports/2026-finra-annual-regulatory-oversight-report</a:t>
            </a:r>
          </a:p>
          <a:p xmlns:a="http://schemas.openxmlformats.org/drawingml/2006/main">
            <a:r>
              <a:t>- FINRA 2026 GenAI topic page: https://www.finra.org/rules-guidance/guidance/reports/2026-finra-annual-regulatory-oversight-report/gen-ai</a:t>
            </a:r>
          </a:p>
          <a:p xmlns:a="http://schemas.openxmlformats.org/drawingml/2006/main">
            <a:r>
              <a:t>- SIFMA 2025 Capital Markets Fact Book: https://www.sifma.org/research/statistics/fact-book</a:t>
            </a:r>
          </a:p>
          <a:p xmlns:a="http://schemas.openxmlformats.org/drawingml/2006/main">
            <a:r>
              <a:t>- SIFMA communications-retention modernization letters, 2025-2026: https://www.sifma.org/advocacy/letters/data-supporting-the-modernization-of-the-communications-retention-requirements</a:t>
            </a:r>
          </a:p>
          <a:p xmlns:a="http://schemas.openxmlformats.org/drawingml/2006/main">
            <a:r>
              <a:t>- J.D. Power 2026 U.S. Financial Advisor Satisfaction Study: https://www.jdpower.com/business/press-releases/2026-u-s-financial-advisor-satisfaction-study/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Bibliography slide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Cerulli State of U.S. Wealth Management Technology 2026: https://www.cerulli.com/reports/state-of-us-wealth-management-technology-2026</a:t>
            </a:r>
          </a:p>
          <a:p xmlns:a="http://schemas.openxmlformats.org/drawingml/2006/main">
            <a:r>
              <a:t>- Global Relay Industry Insights 2026: https://www.globalrelay.com/resources/guides-reports/industry-insights-2026/</a:t>
            </a:r>
          </a:p>
          <a:p xmlns:a="http://schemas.openxmlformats.org/drawingml/2006/main">
            <a:r>
              <a:t>- Envestnet R2 2026 wealth platform release: https://newsroom.envestnet.com/2026-05-19-LIVE-FROM-ELEVATE-2026-Envestnet-Unveils-AI-Driven-Enhancements-and-Accelerates-Financial-Planning-Integration-for-Advisors-on-its-Wealth-Management-Platform</a:t>
            </a:r>
          </a:p>
          <a:p xmlns:a="http://schemas.openxmlformats.org/drawingml/2006/main">
            <a:r>
              <a:t>- Addepar wealth management positioning: https://addepar.com/wealth-management</a:t>
            </a:r>
          </a:p>
          <a:p xmlns:a="http://schemas.openxmlformats.org/drawingml/2006/main">
            <a:r>
              <a:t>- Fidelity Institutional Wealth Management Trends for 2026: https://clearingcustody.fidelity.com/insights/topics/running-your-business/wealth-management-trends-for-2026</a:t>
            </a:r>
          </a:p>
          <a:p xmlns:a="http://schemas.openxmlformats.org/drawingml/2006/main">
            <a:r>
              <a:t>- Fidelity Institutional AI in Wealth Management: https://clearingcustody.fidelity.com/insights/topics/running-your-business/the-current-state-of-ai-in-wealth-management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93f6d6a2e64b3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2051b549901429a" /><Relationship Type="http://schemas.openxmlformats.org/officeDocument/2006/relationships/slideLayout" Target="/ppt/slideLayouts/slideLayout1.xml" Id="R7c9a5a52192144b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9a5a52192144b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2298fcd9c42b1" /><Relationship Type="http://schemas.openxmlformats.org/officeDocument/2006/relationships/notesSlide" Target="/ppt/notesSlides/notesSlide1.xml" Id="Re61578d7989942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b957759094458b" /><Relationship Type="http://schemas.openxmlformats.org/officeDocument/2006/relationships/notesSlide" Target="/ppt/notesSlides/notesSlide2.xml" Id="R3b6c9dcd199646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0b1ca30b7a4d1e" /><Relationship Type="http://schemas.openxmlformats.org/officeDocument/2006/relationships/notesSlide" Target="/ppt/notesSlides/notesSlide3.xml" Id="Rc63cd7ca238442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235225cd643b3" /><Relationship Type="http://schemas.openxmlformats.org/officeDocument/2006/relationships/notesSlide" Target="/ppt/notesSlides/notesSlide4.xml" Id="Ra2f51ae113684c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afaf9c7124f5f" /><Relationship Type="http://schemas.openxmlformats.org/officeDocument/2006/relationships/notesSlide" Target="/ppt/notesSlides/notesSlide5.xml" Id="R85a3d5a04c3f49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620203383849d3" /><Relationship Type="http://schemas.openxmlformats.org/officeDocument/2006/relationships/notesSlide" Target="/ppt/notesSlides/notesSlide6.xml" Id="Re2058a7046a248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7320f662d64179" /><Relationship Type="http://schemas.openxmlformats.org/officeDocument/2006/relationships/notesSlide" Target="/ppt/notesSlides/notesSlide7.xml" Id="R46bbaa1de1eb41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374787717843a0" /><Relationship Type="http://schemas.openxmlformats.org/officeDocument/2006/relationships/image" Target="/ppt/media/image.png" Id="R851978187af34b47" /><Relationship Type="http://schemas.openxmlformats.org/officeDocument/2006/relationships/notesSlide" Target="/ppt/notesSlides/notesSlide8.xml" Id="R9e56c6629a024a5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4bfb4b488845e5" /><Relationship Type="http://schemas.openxmlformats.org/officeDocument/2006/relationships/image" Target="/ppt/media/image2.png" Id="R0c3c316278004eb5" /><Relationship Type="http://schemas.openxmlformats.org/officeDocument/2006/relationships/notesSlide" Target="/ppt/notesSlides/notesSlide9.xml" Id="R6630dea5cfc44f4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8dc8015c2c4532" /><Relationship Type="http://schemas.openxmlformats.org/officeDocument/2006/relationships/image" Target="/ppt/media/image3.png" Id="Rd051468e059d4b9d" /><Relationship Type="http://schemas.openxmlformats.org/officeDocument/2006/relationships/image" Target="/ppt/media/image4.png" Id="R794c34aece824bab" /><Relationship Type="http://schemas.openxmlformats.org/officeDocument/2006/relationships/notesSlide" Target="/ppt/notesSlides/notesSlide10.xml" Id="Rdc175c31991a411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3cc9ab9e3944a1" /><Relationship Type="http://schemas.openxmlformats.org/officeDocument/2006/relationships/notesSlide" Target="/ppt/notesSlides/notesSlide11.xml" Id="Rd236998eb73e472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dbcebf388243d5" /><Relationship Type="http://schemas.openxmlformats.org/officeDocument/2006/relationships/notesSlide" Target="/ppt/notesSlides/notesSlide12.xml" Id="R493554b58e92453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fab53786f54a5e" /><Relationship Type="http://schemas.openxmlformats.org/officeDocument/2006/relationships/notesSlide" Target="/ppt/notesSlides/notesSlide13.xml" Id="R317b5cdf885648f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75634402ca4fb2" /><Relationship Type="http://schemas.openxmlformats.org/officeDocument/2006/relationships/notesSlide" Target="/ppt/notesSlides/notesSlide14.xml" Id="R0e62c64f07aa4cc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5f75326784adb" /><Relationship Type="http://schemas.openxmlformats.org/officeDocument/2006/relationships/notesSlide" Target="/ppt/notesSlides/notesSlide15.xml" Id="Rdf0597c9a64745d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d03372d6104aa0" /><Relationship Type="http://schemas.openxmlformats.org/officeDocument/2006/relationships/notesSlide" Target="/ppt/notesSlides/notesSlide16.xml" Id="R9ab6eb61226146c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7f4f025bda4fff" /><Relationship Type="http://schemas.openxmlformats.org/officeDocument/2006/relationships/notesSlide" Target="/ppt/notesSlides/notesSlide17.xml" Id="R3172980c8b8d45f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07db9397164808" /><Relationship Type="http://schemas.openxmlformats.org/officeDocument/2006/relationships/notesSlide" Target="/ppt/notesSlides/notesSlide18.xml" Id="Rcb873d9def7643a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2D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698B49-628F-4AAA-AA2E-81BF3CEF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F5372B-7BEA-4808-97A2-DBBA255E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1B2D42"/>
              </a:gs>
              <a:gs pos="100000">
                <a:srgbClr val="0B3E31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4DD70F-F887-4449-87B8-A7E79135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D1DE"/>
                </a:solidFill>
              </a:defRPr>
            </a:pPr>
            <a:r>
              <a:rPr sz="975" b="1">
                <a:solidFill>
                  <a:srgbClr val="C8D1DE"/>
                </a:solidFill>
              </a:rPr>
              <a:t>WEALTHSCAPE REPORTING 2.0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36232-C970-4E2F-AFFA-5E747774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33550"/>
            <a:ext cx="8001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Broker-dealer strategy and prototype case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762D5D-7D36-441F-8AD4-35468EDF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657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D7E0EA"/>
                </a:solidFill>
              </a:defRPr>
            </a:pPr>
            <a:r>
              <a:rPr sz="1575" b="0">
                <a:solidFill>
                  <a:srgbClr val="D7E0EA"/>
                </a:solidFill>
              </a:rPr>
              <a:t>A consulting-style readout of the strategy, evidence base, prototype work, and recommended next moves.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544578-2C09-44A9-9FBF-631E980C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3000375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3A"/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5C4D1-07E4-4BAF-B2CD-EA059373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339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Prototype evidence included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43F8E8-E2EC-4B1A-BFDE-76858A21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483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6C7"/>
                </a:solidFill>
              </a:defRPr>
            </a:pPr>
            <a:r>
              <a:rPr sz="975" b="0">
                <a:solidFill>
                  <a:srgbClr val="AAB6C7"/>
                </a:solidFill>
              </a:rPr>
              <a:t>Prepared July 30, 2026</a:t>
            </a:r>
          </a:p>
        </p:txBody>
      </p:sp>
    </p:spTree>
    <p:extLst>
      <p:ext uri="{BB962C8B-B14F-4D97-AF65-F5344CB8AC3E}">
        <p14:creationId xmlns:p14="http://schemas.microsoft.com/office/powerpoint/2010/main" val="8329201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88BCAC-A748-4255-826F-7C4F7E85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4FBE"/>
                </a:solidFill>
              </a:defRPr>
            </a:pPr>
            <a:r>
              <a:rPr sz="900" b="1">
                <a:solidFill>
                  <a:srgbClr val="5B4FBE"/>
                </a:solidFill>
              </a:rPr>
              <a:t>EXECUTIVE THESIS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C64377-311A-4465-A4D8-0894B752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95325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625" b="1">
                <a:solidFill>
                  <a:srgbClr val="101828"/>
                </a:solidFill>
              </a:defRPr>
            </a:pPr>
            <a:r>
              <a:rPr sz="2625" b="1">
                <a:solidFill>
                  <a:srgbClr val="101828"/>
                </a:solidFill>
              </a:rPr>
              <a:t>The work shifted Wealthscape from reporting output to governed operating workflows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1DA4D5-3317-4D35-8ACD-1A1489C3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0627A"/>
                </a:solidFill>
              </a:defRPr>
            </a:pPr>
            <a:r>
              <a:rPr sz="1200" b="0">
                <a:solidFill>
                  <a:srgbClr val="50627A"/>
                </a:solidFill>
              </a:rPr>
              <a:t>The prototype now shows why broker-dealer leaders need profile-specific functionality, while the Strategy tab preserves the business case and source trail.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787A25-306A-48CC-A7D0-8D99CE2C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5C569-9576-4FD0-8401-6D1ED118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6B3A"/>
                </a:solidFill>
              </a:defRPr>
            </a:pPr>
            <a:r>
              <a:rPr sz="2700" b="1">
                <a:solidFill>
                  <a:srgbClr val="0B6B3A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6767AE-BC22-41AB-8079-D533472A7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</a:defRPr>
            </a:pPr>
            <a:r>
              <a:rPr sz="1575" b="1">
                <a:solidFill>
                  <a:srgbClr val="101828"/>
                </a:solidFill>
              </a:rPr>
              <a:t>Strategy clarified the jobs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464DC8-CAC7-49A0-BBC8-4A7F90D9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30003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50627A"/>
                </a:solidFill>
              </a:defRPr>
            </a:pPr>
            <a:r>
              <a:rPr sz="1125" b="0">
                <a:solidFill>
                  <a:srgbClr val="50627A"/>
                </a:solidFill>
              </a:rPr>
              <a:t>ODI/JTBD translated broker-dealer pressure into ranked outcomes for home office, OSJ principals, and hybrid advisor teams.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AEF99A-154D-4BFD-8DD2-8E20C941D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0510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6B3A"/>
                </a:solidFill>
              </a:defRPr>
            </a:pPr>
            <a:r>
              <a:rPr sz="2700" b="1">
                <a:solidFill>
                  <a:srgbClr val="0B6B3A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FF91B1-5C1E-4AC3-84E7-7D4436D8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3528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</a:defRPr>
            </a:pPr>
            <a:r>
              <a:rPr sz="1575" b="1">
                <a:solidFill>
                  <a:srgbClr val="101828"/>
                </a:solidFill>
              </a:rPr>
              <a:t>Prototype proved the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D4C58B-5769-4B57-B654-488AEDCB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29050"/>
            <a:ext cx="30003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50627A"/>
                </a:solidFill>
              </a:defRPr>
            </a:pPr>
            <a:r>
              <a:rPr sz="1125" b="0">
                <a:solidFill>
                  <a:srgbClr val="50627A"/>
                </a:solidFill>
              </a:rPr>
              <a:t>Dashboards changed by persona: supervision command, branch exception workbench, and relationship 360 action queue.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F9D5AA-CE26-4BA4-9AF5-36F831E8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0510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6B3A"/>
                </a:solidFill>
              </a:defRPr>
            </a:pPr>
            <a:r>
              <a:rPr sz="2700" b="1">
                <a:solidFill>
                  <a:srgbClr val="0B6B3A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ADA8C4-B4A7-4173-8BBB-7C41FFD7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528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</a:defRPr>
            </a:pPr>
            <a:r>
              <a:rPr sz="1575" b="1">
                <a:solidFill>
                  <a:srgbClr val="101828"/>
                </a:solidFill>
              </a:rPr>
              <a:t>Recommendations became addressable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B12187-B21D-4ED6-8D4A-AAF73179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829050"/>
            <a:ext cx="30003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50627A"/>
                </a:solidFill>
              </a:defRPr>
            </a:pPr>
            <a:r>
              <a:rPr sz="1125" b="0">
                <a:solidFill>
                  <a:srgbClr val="50627A"/>
                </a:solidFill>
              </a:rPr>
              <a:t>The Strategy tab links recommended moves into prototype surfaces so leaders can see what a solution would 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D8708F-A021-49DF-86DE-2659FC13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A80AB6-6380-4496-A97C-85EB19B6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Broker-Dealer Strategy Expansion Research Packet, repo docs, July 2026; Wealthscape Reporting 2.0 prototype and source, accessed July 30,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4CB834-E29A-4690-B538-A2E4E688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917237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B2D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E5D4C3-74BD-4A16-A0A2-7BA13C92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2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AB6C7"/>
                </a:solidFill>
              </a:defRPr>
            </a:pPr>
            <a:r>
              <a:rPr sz="900" b="1">
                <a:solidFill>
                  <a:srgbClr val="AAB6C7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69B606-28C4-49BB-BBD8-8B763FFF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1000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E8F57"/>
                </a:solidFill>
              </a:defRPr>
            </a:pPr>
            <a:r>
              <a:rPr sz="4800" b="1">
                <a:solidFill>
                  <a:srgbClr val="0E8F57"/>
                </a:solidFill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834B3D-23B6-433F-BB17-5FC14690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4668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Evidence and strategic frame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B4FA1-479F-4EC7-AE56-6DA6D02D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247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3E6AB-230D-454B-8FBA-BF4C6A54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819400"/>
            <a:ext cx="8096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D7E0EA"/>
                </a:solidFill>
              </a:defRPr>
            </a:pPr>
            <a:r>
              <a:rPr sz="1725" b="0">
                <a:solidFill>
                  <a:srgbClr val="D7E0EA"/>
                </a:solidFill>
              </a:rPr>
              <a:t>The market pressure is not simply better reporting. Broker-dealers need operating visibility across supervision, AI usage, communications evidence, adoption, and hybrid client relationships.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277A30-EEDF-49CF-B992-E4191695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5C90B0-BAE7-4FF6-BEBB-D572232B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FINRA 2026 Industry Snapshot; SIFMA 2025 Capital Markets Fact Book; FINRA 2026 GenAI topic page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E00196-9E81-47D4-B3D4-65A42988F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074537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08264F-7037-4748-A528-70FA7AA4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4FBE"/>
                </a:solidFill>
              </a:defRPr>
            </a:pPr>
            <a:r>
              <a:rPr sz="900" b="1">
                <a:solidFill>
                  <a:srgbClr val="5B4FBE"/>
                </a:solidFill>
              </a:rPr>
              <a:t>MARKET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8740D8-7FAE-4DFA-9143-CB429847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95325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625" b="1">
                <a:solidFill>
                  <a:srgbClr val="101828"/>
                </a:solidFill>
              </a:defRPr>
            </a:pPr>
            <a:r>
              <a:rPr sz="2625" b="1">
                <a:solidFill>
                  <a:srgbClr val="101828"/>
                </a:solidFill>
              </a:rPr>
              <a:t>Broker-dealer complexity is concentrating while the workflow surface is widening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BDB725-AC6A-4EE0-80C5-C1C38FF54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0627A"/>
                </a:solidFill>
              </a:defRPr>
            </a:pPr>
            <a:r>
              <a:rPr sz="1200" b="0">
                <a:solidFill>
                  <a:srgbClr val="50627A"/>
                </a:solidFill>
              </a:rPr>
              <a:t>The strongest signals point to fewer, larger firms, more dual registration, and a rising need to prove AI and communications controls inside daily work.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7A8F0C-18A8-4662-B0E2-3317EC3B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D0500A-254C-4E3C-A506-8E9B5CA7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23812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18D215-8064-4369-BF15-3F1685B1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6B3A"/>
                </a:solidFill>
              </a:defRPr>
            </a:pPr>
            <a:r>
              <a:rPr sz="2325" b="1">
                <a:solidFill>
                  <a:srgbClr val="0B6B3A"/>
                </a:solidFill>
              </a:rPr>
              <a:t>3,249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C6DE5-0BFE-4FF8-9BD1-45D68199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6705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0627A"/>
                </a:solidFill>
              </a:defRPr>
            </a:pPr>
            <a:r>
              <a:rPr sz="750" b="1">
                <a:solidFill>
                  <a:srgbClr val="50627A"/>
                </a:solidFill>
              </a:rPr>
              <a:t>FINRA-REGISTERED BROKER-DEALERS IN 2024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9C23B-4901-4FA7-8384-A9BBCABC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766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38" b="0">
                <a:solidFill>
                  <a:srgbClr val="50627A"/>
                </a:solidFill>
              </a:defRPr>
            </a:pPr>
            <a:r>
              <a:rPr sz="938" b="0">
                <a:solidFill>
                  <a:srgbClr val="50627A"/>
                </a:solidFill>
              </a:rPr>
              <a:t>Fewer firms are carrying more operational complexity.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1D4727-F4C0-4DDD-B74C-484AAF94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76500"/>
            <a:ext cx="23812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8AEC7D-B231-44ED-BAFD-CE5ADC372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860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5B4FBE"/>
                </a:solidFill>
              </a:defRPr>
            </a:pPr>
            <a:r>
              <a:rPr sz="2325" b="1">
                <a:solidFill>
                  <a:srgbClr val="5B4FBE"/>
                </a:solidFill>
              </a:rPr>
              <a:t>$641B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25E119-7B81-41E1-802D-B8A621CF1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6705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0627A"/>
                </a:solidFill>
              </a:defRPr>
            </a:pPr>
            <a:r>
              <a:rPr sz="750" b="1">
                <a:solidFill>
                  <a:srgbClr val="50627A"/>
                </a:solidFill>
              </a:rPr>
              <a:t>GROSS BROKER-DEALER REVENUE IN 2024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3C7DE1-D391-4CDE-871D-18399B0E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766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38" b="0">
                <a:solidFill>
                  <a:srgbClr val="50627A"/>
                </a:solidFill>
              </a:defRPr>
            </a:pPr>
            <a:r>
              <a:rPr sz="938" b="0">
                <a:solidFill>
                  <a:srgbClr val="50627A"/>
                </a:solidFill>
              </a:rPr>
              <a:t>Scale increases the value of shared operating visibility.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FEEA9C-EFAE-409F-93A1-54356493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3812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1B8802-80EE-4071-B6FB-9682E3D4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860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6B3A"/>
                </a:solidFill>
              </a:defRPr>
            </a:pPr>
            <a:r>
              <a:rPr sz="2325" b="1">
                <a:solidFill>
                  <a:srgbClr val="0B6B3A"/>
                </a:solidFill>
              </a:rPr>
              <a:t>331,802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87D361-F10C-4EF5-AAB7-89A7B2AB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6705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0627A"/>
                </a:solidFill>
              </a:defRPr>
            </a:pPr>
            <a:r>
              <a:rPr sz="750" b="1">
                <a:solidFill>
                  <a:srgbClr val="50627A"/>
                </a:solidFill>
              </a:rPr>
              <a:t>DUAL BD/IA REPRESENTATIVES IN 2025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5079D6-E72D-4CB7-961B-1896D00A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766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38" b="0">
                <a:solidFill>
                  <a:srgbClr val="50627A"/>
                </a:solidFill>
              </a:defRPr>
            </a:pPr>
            <a:r>
              <a:rPr sz="938" b="0">
                <a:solidFill>
                  <a:srgbClr val="50627A"/>
                </a:solidFill>
              </a:rPr>
              <a:t>Hybrid brokerage/advisory context is now central.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CB3D5A-34FB-4449-B3A3-16AC3203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3812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533547-0B18-4F88-849D-AE5FDCC8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860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D98B00"/>
                </a:solidFill>
              </a:defRPr>
            </a:pPr>
            <a:r>
              <a:rPr sz="2325" b="1">
                <a:solidFill>
                  <a:srgbClr val="D98B00"/>
                </a:solidFill>
              </a:rPr>
              <a:t>AI + cyber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7E0F84-C4F9-4AF5-AD0C-A3468682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6705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0627A"/>
                </a:solidFill>
              </a:defRPr>
            </a:pPr>
            <a:r>
              <a:rPr sz="750" b="1">
                <a:solidFill>
                  <a:srgbClr val="50627A"/>
                </a:solidFill>
              </a:rPr>
              <a:t>FINRA 2026 FOCUS AREAS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0DCC73-A834-4ADE-9328-A5E70FBD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766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38" b="0">
                <a:solidFill>
                  <a:srgbClr val="50627A"/>
                </a:solidFill>
              </a:defRPr>
            </a:pPr>
            <a:r>
              <a:rPr sz="938" b="0">
                <a:solidFill>
                  <a:srgbClr val="50627A"/>
                </a:solidFill>
              </a:rPr>
              <a:t>GenAI, cyber-enabled fraud, senior investors, and third-party risk are live priorities.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7F0596-0708-4E73-A4E0-D88F40FF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3A"/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3425F2-C54A-4721-A55B-CBBCC959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925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Implication: Wealthscape should help leaders see which risks, blockers, and client actions deserve attention first.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23077D-5455-4DEE-B9F5-C9E626D8D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E17D33-0211-4CC5-AFC6-4293AC7A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SIFMA 2025 Capital Markets Fact Book; FINRA 2026 Industry Snapshot; FINRA 2026 Annual Regulatory Oversight Report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D82791-F3C4-457A-A83E-289FA600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907502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0F1AA7-B2F1-4F79-9F0E-28563F79D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4FBE"/>
                </a:solidFill>
              </a:defRPr>
            </a:pPr>
            <a:r>
              <a:rPr sz="900" b="1">
                <a:solidFill>
                  <a:srgbClr val="5B4FBE"/>
                </a:solidFill>
              </a:rPr>
              <a:t>STRATEGY 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04D283-6B06-421F-8C15-FF9B7C67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95325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625" b="1">
                <a:solidFill>
                  <a:srgbClr val="101828"/>
                </a:solidFill>
              </a:defRPr>
            </a:pPr>
            <a:r>
              <a:rPr sz="2625" b="1">
                <a:solidFill>
                  <a:srgbClr val="101828"/>
                </a:solidFill>
              </a:rPr>
              <a:t>The team used ODI to turn market pressure into ranked product opportunities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E8C93C-328F-4875-975B-FD1C516C8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0627A"/>
                </a:solidFill>
              </a:defRPr>
            </a:pPr>
            <a:r>
              <a:rPr sz="1200" b="0">
                <a:solidFill>
                  <a:srgbClr val="50627A"/>
                </a:solidFill>
              </a:rPr>
              <a:t>The strategy layer keeps the business case separate from dashboard operation, but it links each recommendation into the prototype surface that addresses 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1AD43A-23E5-4A9A-B2A2-568F846F1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84163-B520-45CE-B927-BBFECFB8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724150"/>
            <a:ext cx="169545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8F3F09-58D3-42EE-9B36-D3B1FB2F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88607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4FBE"/>
                </a:solidFill>
              </a:defRPr>
            </a:pPr>
            <a:r>
              <a:rPr sz="1650" b="1">
                <a:solidFill>
                  <a:srgbClr val="5B4FBE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60946-4E54-4D36-8C3C-303D34B9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21945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Frame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5F4BF2-732F-47F5-9170-E8BCF84A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543300"/>
            <a:ext cx="1352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38" b="0">
                <a:solidFill>
                  <a:srgbClr val="50627A"/>
                </a:solidFill>
              </a:defRPr>
            </a:pPr>
            <a:r>
              <a:rPr sz="938" b="0">
                <a:solidFill>
                  <a:srgbClr val="50627A"/>
                </a:solidFill>
              </a:rPr>
              <a:t>Define the core job and operating profile.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D975B6-7450-40F5-8AB7-5A262ADA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43250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748198"/>
                </a:solidFill>
              </a:defRPr>
            </a:pPr>
            <a:r>
              <a:rPr sz="1875" b="1">
                <a:solidFill>
                  <a:srgbClr val="748198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16C73B-F823-4A4B-8032-F2B5692E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724150"/>
            <a:ext cx="169545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733889-C5A4-4EC3-BF2B-3FA934B9F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88607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4FBE"/>
                </a:solidFill>
              </a:defRPr>
            </a:pPr>
            <a:r>
              <a:rPr sz="1650" b="1">
                <a:solidFill>
                  <a:srgbClr val="5B4FBE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8C734E-17F1-4CAA-853A-205180BD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21945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Research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86C6DC-89CB-4A2A-AB09-E84ECE92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543300"/>
            <a:ext cx="1352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38" b="0">
                <a:solidFill>
                  <a:srgbClr val="50627A"/>
                </a:solidFill>
              </a:defRPr>
            </a:pPr>
            <a:r>
              <a:rPr sz="938" b="0">
                <a:solidFill>
                  <a:srgbClr val="50627A"/>
                </a:solidFill>
              </a:rPr>
              <a:t>Separate public market signals from assumptions and prototype implications.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1A2B4E-3875-4312-B3EC-AA7E1794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43250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748198"/>
                </a:solidFill>
              </a:defRPr>
            </a:pPr>
            <a:r>
              <a:rPr sz="1875" b="1">
                <a:solidFill>
                  <a:srgbClr val="748198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2735C5-D2E4-43D3-BB56-9B850706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724150"/>
            <a:ext cx="169545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FF4B01-39CE-4357-A81D-DD3479A4B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88607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4FBE"/>
                </a:solidFill>
              </a:defRPr>
            </a:pPr>
            <a:r>
              <a:rPr sz="1650" b="1">
                <a:solidFill>
                  <a:srgbClr val="5B4FBE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BB8A13-1738-4AA1-9FB8-D6A0FC42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21945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Score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4C7B76-3FC8-4CD8-A6EB-A6CF7E69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543300"/>
            <a:ext cx="1352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38" b="0">
                <a:solidFill>
                  <a:srgbClr val="50627A"/>
                </a:solidFill>
              </a:defRPr>
            </a:pPr>
            <a:r>
              <a:rPr sz="938" b="0">
                <a:solidFill>
                  <a:srgbClr val="50627A"/>
                </a:solidFill>
              </a:rPr>
              <a:t>Rank outcomes by importance, satisfaction, and opportunity gap.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9C624C-DCF4-46CF-BD45-8DEBF41AC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43250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748198"/>
                </a:solidFill>
              </a:defRPr>
            </a:pPr>
            <a:r>
              <a:rPr sz="1875" b="1">
                <a:solidFill>
                  <a:srgbClr val="748198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CF4BCD-719A-4A9D-8F83-E3431F8A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724150"/>
            <a:ext cx="169545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7ED163-3AEB-4819-A2E2-C451E574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8607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4FBE"/>
                </a:solidFill>
              </a:defRPr>
            </a:pPr>
            <a:r>
              <a:rPr sz="1650" b="1">
                <a:solidFill>
                  <a:srgbClr val="5B4FBE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AE57B0-CD5F-41CA-99B7-9CEB8593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21945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Resolve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78D22E-3808-438B-ABA8-435FA6F9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543300"/>
            <a:ext cx="1352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38" b="0">
                <a:solidFill>
                  <a:srgbClr val="50627A"/>
                </a:solidFill>
              </a:defRPr>
            </a:pPr>
            <a:r>
              <a:rPr sz="938" b="0">
                <a:solidFill>
                  <a:srgbClr val="50627A"/>
                </a:solidFill>
              </a:rPr>
              <a:t>Choose build, buy, partner, or wrap based on role and maturity.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05E480-DA83-4299-BF1B-851292A6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143250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748198"/>
                </a:solidFill>
              </a:defRPr>
            </a:pPr>
            <a:r>
              <a:rPr sz="1875" b="1">
                <a:solidFill>
                  <a:srgbClr val="748198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4368ED-6326-48DA-945A-477FA686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724150"/>
            <a:ext cx="169545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E8F5EE"/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257F54-066A-40CA-B5E8-7CA12790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88607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6B3A"/>
                </a:solidFill>
              </a:defRPr>
            </a:pPr>
            <a:r>
              <a:rPr sz="1650" b="1">
                <a:solidFill>
                  <a:srgbClr val="0B6B3A"/>
                </a:solidFill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76228E-5F1F-4C0C-8CD4-C582427B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21945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Prototype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1DD8B1-AC5B-4C18-BCDF-9D12428D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543300"/>
            <a:ext cx="1352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38" b="0">
                <a:solidFill>
                  <a:srgbClr val="50627A"/>
                </a:solidFill>
              </a:defRPr>
            </a:pPr>
            <a:r>
              <a:rPr sz="938" b="0">
                <a:solidFill>
                  <a:srgbClr val="50627A"/>
                </a:solidFill>
              </a:rPr>
              <a:t>Map each recommendation to a functional surface.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9BFA01-071D-40EB-AC46-4F1FF7CA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6B3A"/>
                </a:solidFill>
              </a:defRPr>
            </a:pPr>
            <a:r>
              <a:rPr sz="1125" b="1">
                <a:solidFill>
                  <a:srgbClr val="0B6B3A"/>
                </a:solidFill>
              </a:rPr>
              <a:t>Design principle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1E270C-EE56-44CE-8434-562820E4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101828"/>
                </a:solidFill>
              </a:defRPr>
            </a:pPr>
            <a:r>
              <a:rPr sz="1425" b="0">
                <a:solidFill>
                  <a:srgbClr val="101828"/>
                </a:solidFill>
              </a:rPr>
              <a:t>Dashboards should be functional command surfaces. Strategy should explain why those surfaces exist and provide links back to the prototype.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DAC242-EE1F-478E-B649-6BA6FCF8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02A796-2969-494F-BFF9-3C705E73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Broker-Dealer Strategy Expansion Research Packet, repo docs, July 2026; Wealthscape Reporting 2.0 prototype and source, accessed July 30, 2026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45EA1FE-09CC-41B4-85E8-6B1A3C7E9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126363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42A53A-5914-4320-9C20-E4A69C21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4FBE"/>
                </a:solidFill>
              </a:defRPr>
            </a:pPr>
            <a:r>
              <a:rPr sz="900" b="1">
                <a:solidFill>
                  <a:srgbClr val="5B4FBE"/>
                </a:solidFill>
              </a:rPr>
              <a:t>PERSONA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80AA62-626E-4510-A83C-69EE9A9E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95325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625" b="1">
                <a:solidFill>
                  <a:srgbClr val="101828"/>
                </a:solidFill>
              </a:defRPr>
            </a:pPr>
            <a:r>
              <a:rPr sz="2625" b="1">
                <a:solidFill>
                  <a:srgbClr val="101828"/>
                </a:solidFill>
              </a:rPr>
              <a:t>Four profiles let the same platform tell different operating stories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293F7-28F0-4613-A0FF-D10951716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0627A"/>
                </a:solidFill>
              </a:defRPr>
            </a:pPr>
            <a:r>
              <a:rPr sz="1200" b="0">
                <a:solidFill>
                  <a:srgbClr val="50627A"/>
                </a:solidFill>
              </a:rPr>
              <a:t>The profile registry keeps RIA behavior intact while letting broker-dealer roles carry their own dashboard, strategy, alerts, and action routing.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70C3BC-D2F8-492E-91DB-5A2516D24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A5F66-71AE-411C-9FEF-3A007B9C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20737D-F85A-4E09-874D-C6116EA1D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4FBE"/>
          </a:solidFill>
          <a:ln xmlns:a="http://schemas.openxmlformats.org/drawingml/2006/main" w="9525">
            <a:solidFill>
              <a:srgbClr val="5B4FB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66ED21-5597-41D9-9F7A-1F1E7395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JW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ABEF8A-5D84-4694-A3C6-CE783D83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86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RIA Advisor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91E707-EAD9-4C17-9CCD-68708450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62375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0627A"/>
                </a:solidFill>
              </a:defRPr>
            </a:pPr>
            <a:r>
              <a:rPr sz="975" b="0">
                <a:solidFill>
                  <a:srgbClr val="50627A"/>
                </a:solidFill>
              </a:rPr>
              <a:t>Jordan Williams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DF08C5-57C5-406F-B79C-3C234100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13" b="0">
                <a:solidFill>
                  <a:srgbClr val="50627A"/>
                </a:solidFill>
              </a:defRPr>
            </a:pPr>
            <a:r>
              <a:rPr sz="1013" b="0">
                <a:solidFill>
                  <a:srgbClr val="50627A"/>
                </a:solidFill>
              </a:rPr>
              <a:t>Scale client reporting without losing a personal touch.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1FDDD9-1F50-447D-9E27-FEE0141F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6289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AFCDBD-2CC9-4836-969E-C9EE2FE9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8575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3A"/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DC6CB1-19F6-4739-B473-F6383A19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9718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6F98BF-2768-4507-B954-97607A0E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486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BD Home Office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2C3DAD-CFCE-494D-AE6D-0592D042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762375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0627A"/>
                </a:solidFill>
              </a:defRPr>
            </a:pPr>
            <a:r>
              <a:rPr sz="975" b="0">
                <a:solidFill>
                  <a:srgbClr val="50627A"/>
                </a:solidFill>
              </a:rPr>
              <a:t>Maya Okonkwo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719840-9304-4AD0-87E2-15364F42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4095750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13" b="0">
                <a:solidFill>
                  <a:srgbClr val="50627A"/>
                </a:solidFill>
              </a:defRPr>
            </a:pPr>
            <a:r>
              <a:rPr sz="1013" b="0">
                <a:solidFill>
                  <a:srgbClr val="50627A"/>
                </a:solidFill>
              </a:rPr>
              <a:t>Balance advisor productivity with supervision, AI governance, and retention risk.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780597-3180-4287-9485-B49BDA72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289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B15D83-0DFE-415D-BBDA-3DE87218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575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8B00"/>
          </a:solidFill>
          <a:ln xmlns:a="http://schemas.openxmlformats.org/drawingml/2006/main" w="9525">
            <a:solidFill>
              <a:srgbClr val="D98B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50B11A-63BF-4530-8B74-FABBC592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718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KN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E8DC5A-3DDB-4181-A19A-17E908AF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86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OSJ Principal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7926C-AE85-47AA-BBF1-D5D014CE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62375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0627A"/>
                </a:solidFill>
              </a:defRPr>
            </a:pPr>
            <a:r>
              <a:rPr sz="975" b="0">
                <a:solidFill>
                  <a:srgbClr val="50627A"/>
                </a:solidFill>
              </a:rPr>
              <a:t>Kwame Nkrumah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2EFB39-9237-4CF4-B2C2-D369CD0E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13" b="0">
                <a:solidFill>
                  <a:srgbClr val="50627A"/>
                </a:solidFill>
              </a:defRPr>
            </a:pPr>
            <a:r>
              <a:rPr sz="1013" b="0">
                <a:solidFill>
                  <a:srgbClr val="50627A"/>
                </a:solidFill>
              </a:rPr>
              <a:t>Turn branch exceptions into coaching, escalation, and evidence-ready closure.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3E7B0E-44E0-4D3B-BE06-64A2F3B8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6289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D6BC65-A788-4E58-9FF5-DA0F2D6F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8575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2D20"/>
          </a:solidFill>
          <a:ln xmlns:a="http://schemas.openxmlformats.org/drawingml/2006/main" w="9525">
            <a:solidFill>
              <a:srgbClr val="D92D2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EF33E0-0AEF-433A-9369-11DE1482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9718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42AF72-454B-4E8E-85B8-80B6B221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486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Hybrid Advisor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613DCF-13BB-48A3-9318-C72E314D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762375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0627A"/>
                </a:solidFill>
              </a:defRPr>
            </a:pPr>
            <a:r>
              <a:rPr sz="975" b="0">
                <a:solidFill>
                  <a:srgbClr val="50627A"/>
                </a:solidFill>
              </a:rPr>
              <a:t>Amina Diallo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F2188F-5493-4DAB-B060-4BF8A2BB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095750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13" b="0">
                <a:solidFill>
                  <a:srgbClr val="50627A"/>
                </a:solidFill>
              </a:defRPr>
            </a:pPr>
            <a:r>
              <a:rPr sz="1013" b="0">
                <a:solidFill>
                  <a:srgbClr val="50627A"/>
                </a:solidFill>
              </a:rPr>
              <a:t>Make brokerage, advisory, annuity, and planning context client-ready.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772764-48A8-4764-A11F-E7272C20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B89E06-C003-4403-8300-410BA046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Broker-Dealer Strategy Expansion Research Packet, repo docs, July 2026; Wealthscape Reporting 2.0 prototype and source, accessed July 30, 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ADA5D0-A63F-4F38-AFA1-13AF2066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9561820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B2D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713F38-D265-4E79-A30F-369FE8A9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2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AB6C7"/>
                </a:solidFill>
              </a:defRPr>
            </a:pPr>
            <a:r>
              <a:rPr sz="900" b="1">
                <a:solidFill>
                  <a:srgbClr val="AAB6C7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02EF5A-92B4-4BAA-9152-50D2BCF2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1000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E8F57"/>
                </a:solidFill>
              </a:defRPr>
            </a:pPr>
            <a:r>
              <a:rPr sz="4800" b="1">
                <a:solidFill>
                  <a:srgbClr val="0E8F57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856053-229C-45EE-A52D-10ACE716C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4668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Prototype 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79054-9ED4-4B70-8ECF-3AB85FD5D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247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4A29D2-BFAF-4AEA-AB93-3331392B1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819400"/>
            <a:ext cx="7953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725" b="0">
                <a:solidFill>
                  <a:srgbClr val="D7E0EA"/>
                </a:solidFill>
              </a:defRPr>
            </a:pPr>
            <a:r>
              <a:rPr sz="1725" b="0">
                <a:solidFill>
                  <a:srgbClr val="D7E0EA"/>
                </a:solidFill>
              </a:rPr>
              <a:t>The prototype now shows persona-specific work, not just persona-specific copy. Each role lands on a different operational queue with different alerts, metrics, actions, and evidence paths.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AE1FF-6475-40F1-B0B6-2A567095C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878076-0D14-4950-B472-649D7D0AD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Wealthscape Reporting 2.0 prototype and source, accessed July 30,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F88F84-48E5-4185-9F2A-C2B5ED53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3112868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860661-BE48-4D1D-9A98-13E3204A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4FBE"/>
                </a:solidFill>
              </a:defRPr>
            </a:pPr>
            <a:r>
              <a:rPr sz="900" b="1">
                <a:solidFill>
                  <a:srgbClr val="5B4FBE"/>
                </a:solidFill>
              </a:rPr>
              <a:t>HOME-OFFICE 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3D69B9-B254-4A1B-9A2E-D84593DD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95325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625" b="1">
                <a:solidFill>
                  <a:srgbClr val="101828"/>
                </a:solidFill>
              </a:defRPr>
            </a:pPr>
            <a:r>
              <a:rPr sz="2625" b="1">
                <a:solidFill>
                  <a:srgbClr val="101828"/>
                </a:solidFill>
              </a:rPr>
              <a:t>The home office view became a risk and productivity command center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198CB7-AC31-4B95-A13C-22E669AE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0627A"/>
                </a:solidFill>
              </a:defRPr>
            </a:pPr>
            <a:r>
              <a:rPr sz="1200" b="0">
                <a:solidFill>
                  <a:srgbClr val="50627A"/>
                </a:solidFill>
              </a:rPr>
              <a:t>The surface is functional: prioritized operations, profile alerts, operating-loop cards, and action buttons route to relevant workflow context.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3115CE-7DD7-4497-8592-672AA1BE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2CC315-EE3A-47C9-A58A-44D2E4BE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7677150" cy="4171950"/>
          </a:xfrm>
          <a:prstGeom xmlns:a="http://schemas.openxmlformats.org/drawingml/2006/main" prst="roundRect">
            <a:avLst>
              <a:gd name="adj" fmla="val 31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1978187af34b47"/>
          <a:srcRect xmlns:a="http://schemas.openxmlformats.org/drawingml/2006/main" l="0" t="13019" r="0" b="130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171700"/>
            <a:ext cx="7524750" cy="4019550"/>
          </a:xfrm>
          <a:prstGeom xmlns:a="http://schemas.openxmlformats.org/drawingml/2006/main" prst="roundRect">
            <a:avLst>
              <a:gd name="adj" fmla="val 2133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315320-7C03-4610-8DB0-C1BF5D20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8"/>
                </a:solidFill>
              </a:defRPr>
            </a:pPr>
            <a:r>
              <a:rPr sz="1500" b="1">
                <a:solidFill>
                  <a:srgbClr val="101828"/>
                </a:solidFill>
              </a:rPr>
              <a:t>What changed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06EEF4-4DC5-4B00-9C96-F64C1066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57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3A"/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C1897B-9570-4FB4-BDC5-CA738848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0035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Risk, AI reviews, productivity, and retention sit in the same morning operating view.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D31F3F-62B5-43DE-93F6-65613E13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581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3A"/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E3842D-49D9-4CE4-9C4F-ED53199B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2425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Action buttons open the relevant prototype surface with context, reducing redundant navigation.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C080B3-F304-4366-984B-957DC8B9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624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3A"/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26F5A9-530A-4ABD-B8DF-6D75F161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053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Dashboard copy stays operational; the strategy rationale lives in the Strategy tab.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67B2BE-CEB9-4FAE-A241-B817F883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7720D8-5E14-4FAD-AB57-4C7DFE17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Wealthscape Reporting 2.0 prototype and source, accessed July 30, 2026; Broker-Dealer Strategy Expansion Research Packet, repo docs, July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BFD2A9-8340-485B-B4FA-995B6702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55479804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1BB812-F565-4D7E-BF62-158A2260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4FBE"/>
                </a:solidFill>
              </a:defRPr>
            </a:pPr>
            <a:r>
              <a:rPr sz="900" b="1">
                <a:solidFill>
                  <a:srgbClr val="5B4FBE"/>
                </a:solidFill>
              </a:rPr>
              <a:t>STRATEGY-TO-PROTOTYPE LINKAGE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200952-7AAC-49E1-AF2A-10E4BD4C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95325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625" b="1">
                <a:solidFill>
                  <a:srgbClr val="101828"/>
                </a:solidFill>
              </a:defRPr>
            </a:pPr>
            <a:r>
              <a:rPr sz="2625" b="1">
                <a:solidFill>
                  <a:srgbClr val="101828"/>
                </a:solidFill>
              </a:rPr>
              <a:t>The Strategy tab carries the recommendation narrative and links into live surfaces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953991-EE8C-4B2E-A9C5-89966C030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0627A"/>
                </a:solidFill>
              </a:defRPr>
            </a:pPr>
            <a:r>
              <a:rPr sz="1200" b="0">
                <a:solidFill>
                  <a:srgbClr val="50627A"/>
                </a:solidFill>
              </a:rPr>
              <a:t>This resolves the bleed-through issue: leadership sees the strategy in one place, then can open the dashboard workflow that addresses the opportunity.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F62063-467B-40E8-9952-52DB5EF1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233D50-F8F5-430D-B6DB-CDEBFD39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38350"/>
            <a:ext cx="8105775" cy="4248150"/>
          </a:xfrm>
          <a:prstGeom xmlns:a="http://schemas.openxmlformats.org/drawingml/2006/main" prst="roundRect">
            <a:avLst>
              <a:gd name="adj" fmla="val 31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3c316278004eb5"/>
          <a:srcRect xmlns:a="http://schemas.openxmlformats.org/drawingml/2006/main" l="0" t="14348" r="0" b="143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114550"/>
            <a:ext cx="7953375" cy="4095750"/>
          </a:xfrm>
          <a:prstGeom xmlns:a="http://schemas.openxmlformats.org/drawingml/2006/main" prst="roundRect">
            <a:avLst>
              <a:gd name="adj" fmla="val 2093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F3D739-7372-40A5-A447-0490D781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57450"/>
            <a:ext cx="2381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8F5EE"/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AD0799-B5D0-49BB-BA8E-5FE30160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24150"/>
            <a:ext cx="1885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Recommended moves are the bridge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CD92FA-6B56-4447-A959-FE390FDD3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24250"/>
            <a:ext cx="18859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50627A"/>
                </a:solidFill>
              </a:defRPr>
            </a:pPr>
            <a:r>
              <a:rPr sz="1125" b="0">
                <a:solidFill>
                  <a:srgbClr val="50627A"/>
                </a:solidFill>
              </a:rPr>
              <a:t>Each item traces to outcomes, names the operating move, and routes directly into the functional prototype.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EA8D3-7B01-40AC-8F1F-F932B4FA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E72E6B-B135-4FE2-9F11-8C510D63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Wealthscape Reporting 2.0 prototype and source, accessed July 30, 2026; Broker-Dealer Strategy Expansion Research Packet, repo docs, July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DF9FD5-5B99-4B4E-A38A-1FBC3ADB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778013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EA91A6-0E88-4B03-8DA7-7B064CF4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4FBE"/>
                </a:solidFill>
              </a:defRPr>
            </a:pPr>
            <a:r>
              <a:rPr sz="900" b="1">
                <a:solidFill>
                  <a:srgbClr val="5B4FBE"/>
                </a:solidFill>
              </a:rPr>
              <a:t>OSJ AND HYBRID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701CEA-E1E1-472E-9FC8-F05DB4C8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95325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625" b="1">
                <a:solidFill>
                  <a:srgbClr val="101828"/>
                </a:solidFill>
              </a:defRPr>
            </a:pPr>
            <a:r>
              <a:rPr sz="2625" b="1">
                <a:solidFill>
                  <a:srgbClr val="101828"/>
                </a:solidFill>
              </a:rPr>
              <a:t>The profile switcher now changes the work, not just the label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F5832D-7BC2-4770-9D37-E01838ACF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0627A"/>
                </a:solidFill>
              </a:defRPr>
            </a:pPr>
            <a:r>
              <a:rPr sz="1200" b="0">
                <a:solidFill>
                  <a:srgbClr val="50627A"/>
                </a:solidFill>
              </a:rPr>
              <a:t>OSJ principal and hybrid advisor views carry different metrics, queues, owner logic, and next actions.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618D5E-9CC4-4605-96CC-2454AC71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3B4587-9650-47CE-8423-DB8B73F1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76450"/>
            <a:ext cx="5295900" cy="3819525"/>
          </a:xfrm>
          <a:prstGeom xmlns:a="http://schemas.openxmlformats.org/drawingml/2006/main" prst="roundRect">
            <a:avLst>
              <a:gd name="adj" fmla="val 34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51468e059d4b9d"/>
          <a:srcRect xmlns:a="http://schemas.openxmlformats.org/drawingml/2006/main" l="0" t="641" r="0" b="6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152650"/>
            <a:ext cx="5143500" cy="3667125"/>
          </a:xfrm>
          <a:prstGeom xmlns:a="http://schemas.openxmlformats.org/drawingml/2006/main" prst="roundRect">
            <a:avLst>
              <a:gd name="adj" fmla="val 233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CE114C-5CE3-46A4-8F9D-A5EB8260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76450"/>
            <a:ext cx="5295900" cy="3819525"/>
          </a:xfrm>
          <a:prstGeom xmlns:a="http://schemas.openxmlformats.org/drawingml/2006/main" prst="roundRect">
            <a:avLst>
              <a:gd name="adj" fmla="val 34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4c34aece824bab"/>
          <a:srcRect xmlns:a="http://schemas.openxmlformats.org/drawingml/2006/main" l="0" t="641" r="0" b="6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152650"/>
            <a:ext cx="5143500" cy="3667125"/>
          </a:xfrm>
          <a:prstGeom xmlns:a="http://schemas.openxmlformats.org/drawingml/2006/main" prst="roundRect">
            <a:avLst>
              <a:gd name="adj" fmla="val 2338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381F8F-C9CC-459B-8733-555CF440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245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0627A"/>
                </a:solidFill>
              </a:defRPr>
            </a:pPr>
            <a:r>
              <a:rPr sz="975" b="1">
                <a:solidFill>
                  <a:srgbClr val="50627A"/>
                </a:solidFill>
              </a:rPr>
              <a:t>OSJ: exception workbench, rep coaching, escalation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52503C-6734-4453-8459-7E9A89875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9245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0627A"/>
                </a:solidFill>
              </a:defRPr>
            </a:pPr>
            <a:r>
              <a:rPr sz="975" b="1">
                <a:solidFill>
                  <a:srgbClr val="50627A"/>
                </a:solidFill>
              </a:rPr>
              <a:t>Hybrid: relationship 360, suitability blockers, disclosure-ready reports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E36828-5088-4089-98AF-9F15E4F8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5C2233-F0F3-498A-8A6E-88098E65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Wealthscape Reporting 2.0 prototype and source, accessed July 30, 2026; Broker-Dealer Strategy Expansion Research Packet, repo docs, July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8C2E90-75F1-435D-985D-ADF8BAC4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269616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2D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EA23B4-4748-49BB-A870-B297E421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2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AB6C7"/>
                </a:solidFill>
              </a:defRPr>
            </a:pPr>
            <a:r>
              <a:rPr sz="900" b="1">
                <a:solidFill>
                  <a:srgbClr val="AAB6C7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56C1BF-3A56-4389-8BC8-1271E2F1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1000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E8F57"/>
                </a:solidFill>
              </a:defRPr>
            </a:pPr>
            <a:r>
              <a:rPr sz="4800" b="1">
                <a:solidFill>
                  <a:srgbClr val="0E8F57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E9778F-7897-4CD5-B4EC-8BFCA278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4668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Recommendations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8174ED-7B50-4495-91B5-C45A5557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247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4D02B-D3BE-4C52-A773-276334A8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819400"/>
            <a:ext cx="7905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725" b="0">
                <a:solidFill>
                  <a:srgbClr val="D7E0EA"/>
                </a:solidFill>
              </a:defRPr>
            </a:pPr>
            <a:r>
              <a:rPr sz="1725" b="0">
                <a:solidFill>
                  <a:srgbClr val="D7E0EA"/>
                </a:solidFill>
              </a:rPr>
              <a:t>The recommendation set should prioritize native workflow differentiation where Wealthscape can own the experience, while wrapping or partnering for mature regulated infrastructure.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A57B7C-D400-445C-AC96-A12C2A60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C2FEE5-47C9-41C8-929D-105D0926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Broker-Dealer Strategy Expansion Research Packet, repo docs, July 2026; FINRA 2026 GenAI topic page; SIFMA communications-retention modernization letters, 2025-2026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2884B0-1A1D-4086-B8A4-D0D46E72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667786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AAFE0D-EA68-45D5-B7E0-88001CD8A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4FBE"/>
                </a:solidFill>
              </a:defRPr>
            </a:pPr>
            <a:r>
              <a:rPr sz="900" b="1">
                <a:solidFill>
                  <a:srgbClr val="5B4FBE"/>
                </a:solidFill>
              </a:rPr>
              <a:t>RECOMMENDED MOVES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22AC59-0DD7-4AAC-80E0-6EAADCD1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95325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625" b="1">
                <a:solidFill>
                  <a:srgbClr val="101828"/>
                </a:solidFill>
              </a:defRPr>
            </a:pPr>
            <a:r>
              <a:rPr sz="2625" b="1">
                <a:solidFill>
                  <a:srgbClr val="101828"/>
                </a:solidFill>
              </a:rPr>
              <a:t>Six moves convert the strategy into product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1DBCDC-7E94-41EA-8961-7138179D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0627A"/>
                </a:solidFill>
              </a:defRPr>
            </a:pPr>
            <a:r>
              <a:rPr sz="1200" b="0">
                <a:solidFill>
                  <a:srgbClr val="50627A"/>
                </a:solidFill>
              </a:rPr>
              <a:t>The highest-value moves are not generic reporting features; they add evidence, policy, ownership, and action routing into the daily workflow.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17733C-4F3F-49FC-AB93-D9E481FB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41EB94-6F70-4520-BBD3-379570013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24100"/>
            <a:ext cx="3190875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E315F4-C148-4AAC-BA2D-40390F3F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24100"/>
            <a:ext cx="66675" cy="1219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3A"/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360066-F684-4801-A729-64D98C0E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3365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AI evidence ledger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59C09E-FDED-4761-8D91-1E84B4E7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76550"/>
            <a:ext cx="2724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50627A"/>
                </a:solidFill>
              </a:defRPr>
            </a:pPr>
            <a:r>
              <a:rPr sz="1013" b="0">
                <a:solidFill>
                  <a:srgbClr val="50627A"/>
                </a:solidFill>
              </a:rPr>
              <a:t>Policy status, source, model/version context, human review, retained artifact, and owner.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CA67AD-B638-43CA-9E35-32B43932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24100"/>
            <a:ext cx="3190875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C0D66D-D1DD-4122-B9E6-C2D5CC89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24100"/>
            <a:ext cx="66675" cy="1219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4FBE"/>
          </a:solidFill>
          <a:ln xmlns:a="http://schemas.openxmlformats.org/drawingml/2006/main" w="9525">
            <a:solidFill>
              <a:srgbClr val="5B4FB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9D39D4-AF28-4765-AEA1-DF8691AF7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3365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Retention rationale panel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01C660-0DF5-4F2C-8858-63C376379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76550"/>
            <a:ext cx="2724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50627A"/>
                </a:solidFill>
              </a:defRPr>
            </a:pPr>
            <a:r>
              <a:rPr sz="1013" b="0">
                <a:solidFill>
                  <a:srgbClr val="50627A"/>
                </a:solidFill>
              </a:rPr>
              <a:t>Show why communications or AI artifacts are retained, excluded, pending, or escalated.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1A7AF0-1993-410F-B980-7516BD3D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24100"/>
            <a:ext cx="3190875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B40169-C9F6-41B3-B90F-87FA66FF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24100"/>
            <a:ext cx="66675" cy="1219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8B00"/>
          </a:solidFill>
          <a:ln xmlns:a="http://schemas.openxmlformats.org/drawingml/2006/main" w="9525">
            <a:solidFill>
              <a:srgbClr val="D98B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0EEB58-FB7B-410F-B730-E026531B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3365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Advisor AI telemetry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97B351-2DA4-4004-8D1D-52AD28F4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76550"/>
            <a:ext cx="2724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50627A"/>
                </a:solidFill>
              </a:defRPr>
            </a:pPr>
            <a:r>
              <a:rPr sz="1013" b="0">
                <a:solidFill>
                  <a:srgbClr val="50627A"/>
                </a:solidFill>
              </a:rPr>
              <a:t>Connect AI usage, training, effectiveness, support load, exceptions, and retention risk.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B4ED7D-7C60-4087-B854-0C8255E0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190875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75C1E1-9304-415F-9DAE-38AD8A82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66675" cy="1219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3A"/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85EF38-E855-43B0-B1E2-676B71B3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Team-aware branch queues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532CD5-A645-412B-97E6-7E69AAB5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57700"/>
            <a:ext cx="2724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50627A"/>
                </a:solidFill>
              </a:defRPr>
            </a:pPr>
            <a:r>
              <a:rPr sz="1013" b="0">
                <a:solidFill>
                  <a:srgbClr val="50627A"/>
                </a:solidFill>
              </a:rPr>
              <a:t>Route blockers by advisor, CSA, principal, or home office with evidence across handoffs.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931CA1-C50C-4081-848B-09F4429F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905250"/>
            <a:ext cx="3190875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5F2A75-21F4-4736-8BF6-EDC45D02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905250"/>
            <a:ext cx="66675" cy="1219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4FBE"/>
          </a:solidFill>
          <a:ln xmlns:a="http://schemas.openxmlformats.org/drawingml/2006/main" w="9525">
            <a:solidFill>
              <a:srgbClr val="5B4FB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39DE91-CE58-4359-B537-D5BEAA79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148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Plan/Proposal/Report 360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A60AD7-9A87-4EEA-BA05-D78BDF1D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57700"/>
            <a:ext cx="2724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50627A"/>
                </a:solidFill>
              </a:defRPr>
            </a:pPr>
            <a:r>
              <a:rPr sz="1013" b="0">
                <a:solidFill>
                  <a:srgbClr val="50627A"/>
                </a:solidFill>
              </a:rPr>
              <a:t>Bring brokerage, advisory, planning, proposal, suitability, and narrative state together.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4503DE-E672-4B98-BAA6-75D8BD6F4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05250"/>
            <a:ext cx="3190875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A1855F-7536-4CE3-BF99-3C42A17C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05250"/>
            <a:ext cx="66675" cy="1219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8B00"/>
          </a:solidFill>
          <a:ln xmlns:a="http://schemas.openxmlformats.org/drawingml/2006/main" w="9525">
            <a:solidFill>
              <a:srgbClr val="D98B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6DBBED-475B-4482-97B6-03BFA3B1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148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Third-party risk context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6FA0DB-FAB3-43FB-BAF1-852E042C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57700"/>
            <a:ext cx="2724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50627A"/>
                </a:solidFill>
              </a:defRPr>
            </a:pPr>
            <a:r>
              <a:rPr sz="1013" b="0">
                <a:solidFill>
                  <a:srgbClr val="50627A"/>
                </a:solidFill>
              </a:rPr>
              <a:t>Expose vendor evidence, data-access scope, outages, and affected workflows in the command view.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372CCC-AAA1-4585-9834-2874C9A3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9D302D-8579-420F-A1C7-B30BADCA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Broker-Dealer Strategy Expansion Research Packet, repo docs, July 2026; FINRA 2026 GenAI topic page; SIFMA communications-retention modernization letters, 2025-2026; J.D. Power 2026 U.S. Financial Advisor Satisfaction Study; Fidelity Institutional Wealth Management Trends for 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02B4F1-DDA0-4B27-9F17-E78ED28C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7505914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B8279D-9171-4F8D-BB1B-A43DEFEA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4FBE"/>
                </a:solidFill>
              </a:defRPr>
            </a:pPr>
            <a:r>
              <a:rPr sz="900" b="1">
                <a:solidFill>
                  <a:srgbClr val="5B4FBE"/>
                </a:solidFill>
              </a:rPr>
              <a:t>SOURCING CHOICES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6E8C90-F372-457F-82FA-61982067E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95325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625" b="1">
                <a:solidFill>
                  <a:srgbClr val="101828"/>
                </a:solidFill>
              </a:defRPr>
            </a:pPr>
            <a:r>
              <a:rPr sz="2625" b="1">
                <a:solidFill>
                  <a:srgbClr val="101828"/>
                </a:solidFill>
              </a:rPr>
              <a:t>Build the workflow layer; partner where regulated rails are mature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FD0B61-819D-4C34-BE9D-1BBDCFFB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0627A"/>
                </a:solidFill>
              </a:defRPr>
            </a:pPr>
            <a:r>
              <a:rPr sz="1200" b="0">
                <a:solidFill>
                  <a:srgbClr val="50627A"/>
                </a:solidFill>
              </a:rPr>
              <a:t>This is the core product strategy: Wealthscape should own the broker-dealer operating experience while exposing evidence from specialist systems.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3C3A9C-64BA-48B9-962D-19EA3711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5352C-F69C-477E-9067-DF78031B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0627A"/>
                </a:solidFill>
              </a:defRPr>
            </a:pPr>
            <a:r>
              <a:rPr sz="750" b="1">
                <a:solidFill>
                  <a:srgbClr val="50627A"/>
                </a:solidFill>
              </a:rPr>
              <a:t>CALL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46C44A-D730-45B3-883E-2F9A50CC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050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0627A"/>
                </a:solidFill>
              </a:defRPr>
            </a:pPr>
            <a:r>
              <a:rPr sz="750" b="1">
                <a:solidFill>
                  <a:srgbClr val="50627A"/>
                </a:solidFill>
              </a:rPr>
              <a:t>GAP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A0F8BE-280D-4F55-ABDF-5E0D465D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305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0627A"/>
                </a:solidFill>
              </a:defRPr>
            </a:pPr>
            <a:r>
              <a:rPr sz="750" b="1">
                <a:solidFill>
                  <a:srgbClr val="50627A"/>
                </a:solidFill>
              </a:rPr>
              <a:t>RATIONALE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8D8154-2A2A-4945-BD6A-B7134741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10858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8DE9D8-52DE-48CC-9796-75436F67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9850"/>
            <a:ext cx="9906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3A">
              <a:alpha val="10196"/>
            </a:srgbClr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1E0896-8C44-4D87-98A6-20BDFFF7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990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B6B3A"/>
                </a:solidFill>
              </a:defRPr>
            </a:pPr>
            <a:r>
              <a:rPr sz="825" b="1">
                <a:solidFill>
                  <a:srgbClr val="0B6B3A"/>
                </a:solidFill>
              </a:rPr>
              <a:t>Build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6D3081-1DB6-4634-8CE7-F84FF6A5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289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01828"/>
                </a:solidFill>
              </a:defRPr>
            </a:pPr>
            <a:r>
              <a:rPr sz="1088" b="1">
                <a:solidFill>
                  <a:srgbClr val="101828"/>
                </a:solidFill>
              </a:rPr>
              <a:t>AI evidence ledger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95B648-CC53-4702-ADE8-6262EFD18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6193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38" b="0">
                <a:solidFill>
                  <a:srgbClr val="50627A"/>
                </a:solidFill>
              </a:defRPr>
            </a:pPr>
            <a:r>
              <a:rPr sz="938" b="0">
                <a:solidFill>
                  <a:srgbClr val="50627A"/>
                </a:solidFill>
              </a:rPr>
              <a:t>Core context must match Wealthscape reporting and supervision workflows.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303F7B-E8B6-4903-BE46-7166C91F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10858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822B13-3EF4-4C11-90A8-3C3B01DC0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9906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3A">
              <a:alpha val="10196"/>
            </a:srgbClr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5E638C-B9B8-4481-BC48-B0EA6C28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990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B6B3A"/>
                </a:solidFill>
              </a:defRPr>
            </a:pPr>
            <a:r>
              <a:rPr sz="825" b="1">
                <a:solidFill>
                  <a:srgbClr val="0B6B3A"/>
                </a:solidFill>
              </a:rPr>
              <a:t>Build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3869F1-50E6-40CD-BCE2-7BD93519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1813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01828"/>
                </a:solidFill>
              </a:defRPr>
            </a:pPr>
            <a:r>
              <a:rPr sz="1088" b="1">
                <a:solidFill>
                  <a:srgbClr val="101828"/>
                </a:solidFill>
              </a:rPr>
              <a:t>Retention rationale and review-status layer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6A8BFC-18A6-4C8F-89F9-C12FDDD1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7182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38" b="0">
                <a:solidFill>
                  <a:srgbClr val="50627A"/>
                </a:solidFill>
              </a:defRPr>
            </a:pPr>
            <a:r>
              <a:rPr sz="938" b="0">
                <a:solidFill>
                  <a:srgbClr val="50627A"/>
                </a:solidFill>
              </a:rPr>
              <a:t>The decision context is differentiated at the point of work.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FDABCC-8374-4BC1-8154-9B7BEE6B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10858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79E87E-0365-4E44-931F-5A6AC76C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9906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3A">
              <a:alpha val="10196"/>
            </a:srgbClr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2159CA-A8B8-4211-8D57-07097150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71900"/>
            <a:ext cx="990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B6B3A"/>
                </a:solidFill>
              </a:defRPr>
            </a:pPr>
            <a:r>
              <a:rPr sz="825" b="1">
                <a:solidFill>
                  <a:srgbClr val="0B6B3A"/>
                </a:solidFill>
              </a:rPr>
              <a:t>Build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CC521C-1867-4C11-85CE-4D1E1CF9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7338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01828"/>
                </a:solidFill>
              </a:defRPr>
            </a:pPr>
            <a:r>
              <a:rPr sz="1088" b="1">
                <a:solidFill>
                  <a:srgbClr val="101828"/>
                </a:solidFill>
              </a:rPr>
              <a:t>Advisor AI effectiveness and retention telemetry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83FAEB-C3F0-4B71-A91F-21B886F6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7242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38" b="0">
                <a:solidFill>
                  <a:srgbClr val="50627A"/>
                </a:solidFill>
              </a:defRPr>
            </a:pPr>
            <a:r>
              <a:rPr sz="938" b="0">
                <a:solidFill>
                  <a:srgbClr val="50627A"/>
                </a:solidFill>
              </a:rPr>
              <a:t>Fidelity can combine platform usage, support, training, exceptions, and satisfaction.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1BD7FD-EA69-4933-A90C-07264961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0858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ACF782-5CCF-400C-B3E1-5C5A27B4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9906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4FBE">
              <a:alpha val="10196"/>
            </a:srgbClr>
          </a:solidFill>
          <a:ln xmlns:a="http://schemas.openxmlformats.org/drawingml/2006/main" w="9525">
            <a:solidFill>
              <a:srgbClr val="5B4FB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FB8C94-E05C-44F8-8517-A0DBA648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24350"/>
            <a:ext cx="990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4FBE"/>
                </a:solidFill>
              </a:defRPr>
            </a:pPr>
            <a:r>
              <a:rPr sz="825" b="1">
                <a:solidFill>
                  <a:srgbClr val="5B4FBE"/>
                </a:solidFill>
              </a:rPr>
              <a:t>Partner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A55970-6AB2-421B-8AC1-D53A828E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862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01828"/>
                </a:solidFill>
              </a:defRPr>
            </a:pPr>
            <a:r>
              <a:rPr sz="1088" b="1">
                <a:solidFill>
                  <a:srgbClr val="101828"/>
                </a:solidFill>
              </a:rPr>
              <a:t>Communications capture, archive, surveillance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AAC81B-0FFB-46B6-BFAD-6D36DD4B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27672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38" b="0">
                <a:solidFill>
                  <a:srgbClr val="50627A"/>
                </a:solidFill>
              </a:defRPr>
            </a:pPr>
            <a:r>
              <a:rPr sz="938" b="0">
                <a:solidFill>
                  <a:srgbClr val="50627A"/>
                </a:solidFill>
              </a:rPr>
              <a:t>Capture, archive, legal hold, and surveillance rails are mature regulated infrastructure.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7688B5-3D5A-46DF-9294-E92DE0DF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858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4CA6AF-46CE-4F12-9FC5-0F36B083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19650"/>
            <a:ext cx="9906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8B00">
              <a:alpha val="10196"/>
            </a:srgbClr>
          </a:solidFill>
          <a:ln xmlns:a="http://schemas.openxmlformats.org/drawingml/2006/main" w="9525">
            <a:solidFill>
              <a:srgbClr val="D98B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A7D213-FFCE-4800-9B4A-D3870B70B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990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D98B00"/>
                </a:solidFill>
              </a:defRPr>
            </a:pPr>
            <a:r>
              <a:rPr sz="825" b="1">
                <a:solidFill>
                  <a:srgbClr val="D98B00"/>
                </a:solidFill>
              </a:rPr>
              <a:t>Wrap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956B8B-9071-4D0F-89BF-21E82986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387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01828"/>
                </a:solidFill>
              </a:defRPr>
            </a:pPr>
            <a:r>
              <a:rPr sz="1088" b="1">
                <a:solidFill>
                  <a:srgbClr val="101828"/>
                </a:solidFill>
              </a:rPr>
              <a:t>Planning/proposal/reporting integration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59FADF-6463-4D84-BA0A-3D247905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8291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38" b="0">
                <a:solidFill>
                  <a:srgbClr val="50627A"/>
                </a:solidFill>
              </a:defRPr>
            </a:pPr>
            <a:r>
              <a:rPr sz="938" b="0">
                <a:solidFill>
                  <a:srgbClr val="50627A"/>
                </a:solidFill>
              </a:rPr>
              <a:t>The value is a unified experience over existing custody, planning, and reporting data.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9F1A75-E4F5-4177-8217-861286B7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76850"/>
            <a:ext cx="10858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B2A0A8-D2EE-4446-8DC7-4FCC75A6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72100"/>
            <a:ext cx="9906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4FBE">
              <a:alpha val="10196"/>
            </a:srgbClr>
          </a:solidFill>
          <a:ln xmlns:a="http://schemas.openxmlformats.org/drawingml/2006/main" w="9525">
            <a:solidFill>
              <a:srgbClr val="5B4FB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F3075A-062F-4908-804A-CD43F9AA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990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4FBE"/>
                </a:solidFill>
              </a:defRPr>
            </a:pPr>
            <a:r>
              <a:rPr sz="825" b="1">
                <a:solidFill>
                  <a:srgbClr val="5B4FBE"/>
                </a:solidFill>
              </a:rPr>
              <a:t>Partner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824F82-4A6D-45D3-A03E-77866561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911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01828"/>
                </a:solidFill>
              </a:defRPr>
            </a:pPr>
            <a:r>
              <a:rPr sz="1088" b="1">
                <a:solidFill>
                  <a:srgbClr val="101828"/>
                </a:solidFill>
              </a:rPr>
              <a:t>Vendor-risk monitoring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77D358-8F05-484A-842A-5CB5BB1DE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38162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38" b="0">
                <a:solidFill>
                  <a:srgbClr val="50627A"/>
                </a:solidFill>
              </a:defRPr>
            </a:pPr>
            <a:r>
              <a:rPr sz="938" b="0">
                <a:solidFill>
                  <a:srgbClr val="50627A"/>
                </a:solidFill>
              </a:rPr>
              <a:t>Specialist systems can supply evidence; Wealthscape should show workflow impact.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985E12-8BF6-4BB1-80B4-996CF1F5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3FCFF8-BB2C-48E3-B8F9-B09A2B8A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Broker-Dealer Strategy Expansion Research Packet, repo docs, July 2026; Global Relay Industry Insights 2026; Envestnet R2 2026 wealth platform release; Addepar wealth management positioning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5C8CB42-F217-49EA-BDCA-1ABE8169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3763959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E65B8F-49AF-4A6F-8E86-927B40D0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4FBE"/>
                </a:solidFill>
              </a:defRPr>
            </a:pPr>
            <a:r>
              <a:rPr sz="900" b="1">
                <a:solidFill>
                  <a:srgbClr val="5B4FBE"/>
                </a:solidFill>
              </a:rPr>
              <a:t>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50601F-339B-4BEB-BF03-9CE79C6F2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95325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625" b="1">
                <a:solidFill>
                  <a:srgbClr val="101828"/>
                </a:solidFill>
              </a:defRPr>
            </a:pPr>
            <a:r>
              <a:rPr sz="2625" b="1">
                <a:solidFill>
                  <a:srgbClr val="101828"/>
                </a:solidFill>
              </a:rPr>
              <a:t>A practical rollout starts with evidence and ownership before deeper automation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295AD-6AC6-4EF1-9A7B-614A744E2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0627A"/>
                </a:solidFill>
              </a:defRPr>
            </a:pPr>
            <a:r>
              <a:rPr sz="1200" b="0">
                <a:solidFill>
                  <a:srgbClr val="50627A"/>
                </a:solidFill>
              </a:rPr>
              <a:t>The next phase should tighten the prototype around proof, then pilot the workflows with bounded broker-dealer inputs.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B456FA-CAA1-4DE6-BFD2-FA796AF4C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1E4547-66DA-45BB-AFD5-BBA609476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B3A"/>
                </a:solidFill>
              </a:defRPr>
            </a:pPr>
            <a:r>
              <a:rPr sz="975" b="1">
                <a:solidFill>
                  <a:srgbClr val="0B6B3A"/>
                </a:solidFill>
              </a:rPr>
              <a:t>0-30 days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66B85D-3CA8-4F36-8702-978DBF17B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57500"/>
            <a:ext cx="2343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B1B53C-CFB1-4818-A1E2-024170E0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3A"/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B6EF72-1744-4162-98AF-EB351B19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8"/>
                </a:solidFill>
              </a:defRPr>
            </a:pPr>
            <a:r>
              <a:rPr sz="1500" b="1">
                <a:solidFill>
                  <a:srgbClr val="101828"/>
                </a:solidFill>
              </a:rPr>
              <a:t>Tighten story and QA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5474C2-937D-4AA5-B948-5F575FE9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209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13" b="0">
                <a:solidFill>
                  <a:srgbClr val="50627A"/>
                </a:solidFill>
              </a:defRPr>
            </a:pPr>
            <a:r>
              <a:rPr sz="1013" b="0">
                <a:solidFill>
                  <a:srgbClr val="50627A"/>
                </a:solidFill>
              </a:rPr>
              <a:t>Finalize light/dark treatment, refine operating-loop labels, confirm strategy links, and package this deck for stakeholder review.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E41246-16D5-48C4-9F8E-C54161A5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4574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B3A"/>
                </a:solidFill>
              </a:defRPr>
            </a:pPr>
            <a:r>
              <a:rPr sz="975" b="1">
                <a:solidFill>
                  <a:srgbClr val="0B6B3A"/>
                </a:solidFill>
              </a:rPr>
              <a:t>30-60 days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F57AEF-EFE1-4DCC-B467-C8630389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857500"/>
            <a:ext cx="2343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4B69E7-528F-4CD4-A6F0-9C2B1F2B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781300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3A"/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84E860-5200-4533-8F91-83DB17D2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004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8"/>
                </a:solidFill>
              </a:defRPr>
            </a:pPr>
            <a:r>
              <a:rPr sz="1500" b="1">
                <a:solidFill>
                  <a:srgbClr val="101828"/>
                </a:solidFill>
              </a:rPr>
              <a:t>Add evidence 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0D361F-48BE-454F-A300-B24D17B0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14750"/>
            <a:ext cx="209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13" b="0">
                <a:solidFill>
                  <a:srgbClr val="50627A"/>
                </a:solidFill>
              </a:defRPr>
            </a:pPr>
            <a:r>
              <a:rPr sz="1013" b="0">
                <a:solidFill>
                  <a:srgbClr val="50627A"/>
                </a:solidFill>
              </a:rPr>
              <a:t>Define AI evidence ledger, retention rationale statuses, owner model, and source labels across profiles.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7C96C7-B3B9-4CB2-9ADE-BC5FC141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574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B3A"/>
                </a:solidFill>
              </a:defRPr>
            </a:pPr>
            <a:r>
              <a:rPr sz="975" b="1">
                <a:solidFill>
                  <a:srgbClr val="0B6B3A"/>
                </a:solidFill>
              </a:rPr>
              <a:t>60-90 days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80FD8B-1715-4767-A0DD-FE21DDB7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2343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7B028F-B48C-4D3C-B918-73AF44B0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81300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3A"/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AEA3D1-6C34-4D6D-9C99-3668C68D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004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8"/>
                </a:solidFill>
              </a:defRPr>
            </a:pPr>
            <a:r>
              <a:rPr sz="1500" b="1">
                <a:solidFill>
                  <a:srgbClr val="101828"/>
                </a:solidFill>
              </a:rPr>
              <a:t>Pilot role workflows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EDFBB4-8593-4D55-BFB5-C759452A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14750"/>
            <a:ext cx="209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13" b="0">
                <a:solidFill>
                  <a:srgbClr val="50627A"/>
                </a:solidFill>
              </a:defRPr>
            </a:pPr>
            <a:r>
              <a:rPr sz="1013" b="0">
                <a:solidFill>
                  <a:srgbClr val="50627A"/>
                </a:solidFill>
              </a:rPr>
              <a:t>Test home-office, OSJ, and hybrid workflows with real support/supervision scenarios and update ODI scores.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EDE2D7-65EB-423C-AB8F-4F9390CB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574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B3A"/>
                </a:solidFill>
              </a:defRPr>
            </a:pPr>
            <a:r>
              <a:rPr sz="975" b="1">
                <a:solidFill>
                  <a:srgbClr val="0B6B3A"/>
                </a:solidFill>
              </a:rPr>
              <a:t>90+ days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1273E8-1958-4981-BDDA-B6C6F7AB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57500"/>
            <a:ext cx="2343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0441C4-E78A-4FE7-8F9A-522C4A68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81300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3A"/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CF224F-7129-44CF-9A9E-AF4A8739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004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8"/>
                </a:solidFill>
              </a:defRPr>
            </a:pPr>
            <a:r>
              <a:rPr sz="1500" b="1">
                <a:solidFill>
                  <a:srgbClr val="101828"/>
                </a:solidFill>
              </a:rPr>
              <a:t>Integrate rails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4AA606-AD90-4EDD-8C82-F783E123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714750"/>
            <a:ext cx="209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13" b="0">
                <a:solidFill>
                  <a:srgbClr val="50627A"/>
                </a:solidFill>
              </a:defRPr>
            </a:pPr>
            <a:r>
              <a:rPr sz="1013" b="0">
                <a:solidFill>
                  <a:srgbClr val="50627A"/>
                </a:solidFill>
              </a:rPr>
              <a:t>Connect partner systems for communications capture, archive, vendor risk, and surveillance status where approved.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CC3EE0-FB64-4EF7-9B5B-8861DBC8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03DE07-9B3C-4B28-9055-6E32DB1A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Broker-Dealer Strategy Expansion Research Packet, repo docs, July 2026; Wealthscape Reporting 2.0 prototype and source, accessed July 30, 2026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2B2A94-B860-4EC3-8914-E0303357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3062795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B90BB4-F918-4E38-B9A1-858F6261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4FBE"/>
                </a:solidFill>
              </a:defRPr>
            </a:pPr>
            <a:r>
              <a:rPr sz="900" b="1">
                <a:solidFill>
                  <a:srgbClr val="5B4FBE"/>
                </a:solidFill>
              </a:rPr>
              <a:t>MEASUREMENT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8FC826-4493-4945-9F29-705D3463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95325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625" b="1">
                <a:solidFill>
                  <a:srgbClr val="101828"/>
                </a:solidFill>
              </a:defRPr>
            </a:pPr>
            <a:r>
              <a:rPr sz="2625" b="1">
                <a:solidFill>
                  <a:srgbClr val="101828"/>
                </a:solidFill>
              </a:rPr>
              <a:t>Success should be judged by operating lift, not slide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ADFC12-2036-42D8-A355-40600F30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0627A"/>
                </a:solidFill>
              </a:defRPr>
            </a:pPr>
            <a:r>
              <a:rPr sz="1200" b="0">
                <a:solidFill>
                  <a:srgbClr val="50627A"/>
                </a:solidFill>
              </a:rPr>
              <a:t>The prototype creates a testable measurement spine across risk, adoption, productivity, and retention.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6D3955-305D-4887-AA92-446F40D1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4821A7-B97A-4167-AEAF-6FF486BD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38375"/>
            <a:ext cx="1809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Risk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8BABD3-3077-40DE-ABFD-5FBE302E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33625"/>
            <a:ext cx="695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298546-25D5-49DB-BB72-EDB257BE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19325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0627A"/>
                </a:solidFill>
              </a:defRPr>
            </a:pPr>
            <a:r>
              <a:rPr sz="1125" b="0">
                <a:solidFill>
                  <a:srgbClr val="50627A"/>
                </a:solidFill>
              </a:rPr>
              <a:t>Time to identify priority issue; evidence packet completeness; aging exceptions over SLA.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5EFC44-DC40-4B9D-B82F-63386C33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24175"/>
            <a:ext cx="1809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AI governance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EE5CE3-922B-4EA9-B37F-D7791864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19425"/>
            <a:ext cx="695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3F8821-91D9-4A85-8DED-3CEED637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05125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0627A"/>
                </a:solidFill>
              </a:defRPr>
            </a:pPr>
            <a:r>
              <a:rPr sz="1125" b="0">
                <a:solidFill>
                  <a:srgbClr val="50627A"/>
                </a:solidFill>
              </a:rPr>
              <a:t>Approved-use coverage; review backlog; model/source context attached to AI-assisted artifacts.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498A71-29E7-4006-A6E9-439E3A5C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09975"/>
            <a:ext cx="1809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Advisor productivity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2CA3D6-D91C-4775-8883-32F81A9F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705225"/>
            <a:ext cx="695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B38653-BE94-42F9-93BB-DFF191AD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90925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0627A"/>
                </a:solidFill>
              </a:defRPr>
            </a:pPr>
            <a:r>
              <a:rPr sz="1125" b="0">
                <a:solidFill>
                  <a:srgbClr val="50627A"/>
                </a:solidFill>
              </a:rPr>
              <a:t>Report cycle time; routed action completion; support-ticket load after workflow changes.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707537-6483-4712-B661-816A304B2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95775"/>
            <a:ext cx="1809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Retention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9C7A86-AF4B-4617-BD04-9616AB1F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91025"/>
            <a:ext cx="695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1A6168-55A7-452B-AE38-05B07FA3E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76725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0627A"/>
                </a:solidFill>
              </a:defRPr>
            </a:pPr>
            <a:r>
              <a:rPr sz="1125" b="0">
                <a:solidFill>
                  <a:srgbClr val="50627A"/>
                </a:solidFill>
              </a:rPr>
              <a:t>Adoption drop signals; friction-score movement; field intervention closure.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662F69-97B5-4F24-9B27-66183304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81575"/>
            <a:ext cx="1809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Client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7A454D-4676-460A-A770-1E1D3C5E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76825"/>
            <a:ext cx="695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A4B030-602C-4E9E-B9D0-5E67250F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62525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0627A"/>
                </a:solidFill>
              </a:defRPr>
            </a:pPr>
            <a:r>
              <a:rPr sz="1125" b="0">
                <a:solidFill>
                  <a:srgbClr val="50627A"/>
                </a:solidFill>
              </a:rPr>
              <a:t>Blocked account/product actions; disclosure clearance; team-owner handoff time.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8C0AB0-B100-4600-A957-3D78477BC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305050"/>
            <a:ext cx="781050" cy="2952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5EE"/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EC0A98-5FE8-4FA1-88C1-FD1AD613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743200"/>
            <a:ext cx="42862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B6B3A"/>
                </a:solidFill>
              </a:defRPr>
            </a:pPr>
            <a:r>
              <a:rPr sz="1275" b="1">
                <a:solidFill>
                  <a:srgbClr val="0B6B3A"/>
                </a:solidFill>
              </a:rPr>
              <a:t>Measure whether work got lighter and safer.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10C208-FE70-450E-8597-9A4C800D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29FF1C-4884-48A8-8F45-738D46A1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Wealthscape Reporting 2.0 prototype and source, accessed July 30, 2026; Broker-Dealer Strategy Expansion Research Packet, repo docs, July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23F7A9-86A4-4CEB-A742-5A5102EB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8931545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B2D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2E10D6-02DC-4246-A2EA-2B5AD61B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C4D4"/>
                </a:solidFill>
              </a:defRPr>
            </a:pPr>
            <a:r>
              <a:rPr sz="1125" b="1">
                <a:solidFill>
                  <a:srgbClr val="B8C4D4"/>
                </a:solidFill>
              </a:rPr>
              <a:t>Closing recommendation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EA6A3F-F364-4C07-B79F-56A80B4F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8286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Use Wealthscape 2.0 as a governed workflow prototype, not a reporting facelift.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37925F-ECFE-4121-A9EE-BB376FF2C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7429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D7E0EA"/>
                </a:solidFill>
              </a:defRPr>
            </a:pPr>
            <a:r>
              <a:rPr sz="1725" b="0">
                <a:solidFill>
                  <a:srgbClr val="D7E0EA"/>
                </a:solidFill>
              </a:rPr>
              <a:t>The strategic bet is simple: make the work visible, route the next action, and preserve the evidence. Reporting is still the output. The product value is the operating loop around 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85F8A1-D08C-45EA-89FE-0864E0CD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276225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3A"/>
          </a:solidFill>
          <a:ln xmlns:a="http://schemas.openxmlformats.org/drawingml/2006/main" w="9525">
            <a:solidFill>
              <a:srgbClr val="0B6B3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D69BBD-13DC-4B04-AFE6-7B40AFAF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81575"/>
            <a:ext cx="2238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Next decision: pilot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DC01BB-46EA-4933-804D-BBAA0CDB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4847C-240E-4F63-9AF0-0414240E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Broker-Dealer Strategy Expansion Research Packet, repo docs, July 2026; Wealthscape Reporting 2.0 prototype and source, accessed July 30,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203F42-43B3-490B-95A1-2BDC0FEE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88913164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E5F686-641A-448D-804F-4F8AF16A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4FBE"/>
                </a:solidFill>
              </a:defRPr>
            </a:pPr>
            <a:r>
              <a:rPr sz="900" b="1">
                <a:solidFill>
                  <a:srgbClr val="5B4FBE"/>
                </a:solidFill>
              </a:rPr>
              <a:t>BIBLIOGRAPHY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171648-71D7-4A48-AF04-7AB1056B6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95325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625" b="1">
                <a:solidFill>
                  <a:srgbClr val="101828"/>
                </a:solidFill>
              </a:defRPr>
            </a:pPr>
            <a:r>
              <a:rPr sz="2625" b="1">
                <a:solidFill>
                  <a:srgbClr val="101828"/>
                </a:solidFill>
              </a:rPr>
              <a:t>Source register for strategy evidence and prototype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9AA919-6DB9-457C-9791-991C196A6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0627A"/>
                </a:solidFill>
              </a:defRPr>
            </a:pPr>
            <a:r>
              <a:rPr sz="1200" b="0">
                <a:solidFill>
                  <a:srgbClr val="50627A"/>
                </a:solidFill>
              </a:rPr>
              <a:t>Primary source anchors used across the deck. Full URLs are included here and in speaker notes.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69B802-3B09-494B-A8E5-A0BDF0EC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4AA81F-34DA-4C4B-A561-A1CF9FE7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01828"/>
                </a:solidFill>
              </a:defRPr>
            </a:pPr>
            <a:r>
              <a:rPr sz="938" b="1">
                <a:solidFill>
                  <a:srgbClr val="101828"/>
                </a:solidFill>
              </a:rPr>
              <a:t>1. Wealthscape Reporting 2.0 prototype and source, accessed July 30,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43EC81-80EE-4A1C-AB4B-69373576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47900"/>
            <a:ext cx="5953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0627A"/>
                </a:solidFill>
              </a:defRPr>
            </a:pPr>
            <a:r>
              <a:rPr sz="713" b="0">
                <a:solidFill>
                  <a:srgbClr val="50627A"/>
                </a:solidFill>
              </a:rPr>
              <a:t>https://wealthscape-reporting.vercel.app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9C9DB1-6D88-44B7-A6BC-A57DF175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765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01828"/>
                </a:solidFill>
              </a:defRPr>
            </a:pPr>
            <a:r>
              <a:rPr sz="938" b="1">
                <a:solidFill>
                  <a:srgbClr val="101828"/>
                </a:solidFill>
              </a:rPr>
              <a:t>2. Broker-Dealer Strategy Expansion Research Packet, repo docs, July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C8F6D7-28A0-496F-8FD0-EA4BD9F3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676525"/>
            <a:ext cx="5953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0627A"/>
                </a:solidFill>
              </a:defRPr>
            </a:pPr>
            <a:r>
              <a:rPr sz="713" b="0">
                <a:solidFill>
                  <a:srgbClr val="50627A"/>
                </a:solidFill>
              </a:rPr>
              <a:t>docs/broker-dealer-strategy-expansion.md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3C8D2B-2386-434E-8BF9-4FE9FF9F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01828"/>
                </a:solidFill>
              </a:defRPr>
            </a:pPr>
            <a:r>
              <a:rPr sz="938" b="1">
                <a:solidFill>
                  <a:srgbClr val="101828"/>
                </a:solidFill>
              </a:rPr>
              <a:t>3. FINRA 2026 Industry Snapshot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A3B45F-8730-4496-A4AC-C6E81D8C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105150"/>
            <a:ext cx="5953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0627A"/>
                </a:solidFill>
              </a:defRPr>
            </a:pPr>
            <a:r>
              <a:rPr sz="713" b="0">
                <a:solidFill>
                  <a:srgbClr val="50627A"/>
                </a:solidFill>
              </a:rPr>
              <a:t>https://www.finra.org/media-center/newsreleases/2026/finra-publishes-2026-industry-snapshot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945307-633B-4E3D-9B4E-0E66BED1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337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01828"/>
                </a:solidFill>
              </a:defRPr>
            </a:pPr>
            <a:r>
              <a:rPr sz="938" b="1">
                <a:solidFill>
                  <a:srgbClr val="101828"/>
                </a:solidFill>
              </a:rPr>
              <a:t>4. FINRA 2026 Annual Regulatory Oversight Report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4808C3-1FC3-4D73-9131-52422BDD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33775"/>
            <a:ext cx="5953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0627A"/>
                </a:solidFill>
              </a:defRPr>
            </a:pPr>
            <a:r>
              <a:rPr sz="713" b="0">
                <a:solidFill>
                  <a:srgbClr val="50627A"/>
                </a:solidFill>
              </a:rPr>
              <a:t>https://www.finra.org/rules-guidance/guidance/reports/2026-finra-annual-regulatory-oversight-report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33EFE6-40CF-42D3-A53B-54B91049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624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01828"/>
                </a:solidFill>
              </a:defRPr>
            </a:pPr>
            <a:r>
              <a:rPr sz="938" b="1">
                <a:solidFill>
                  <a:srgbClr val="101828"/>
                </a:solidFill>
              </a:rPr>
              <a:t>5. FINRA 2026 GenAI topic page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42905B-6289-49DC-9F48-3FE35DF0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962400"/>
            <a:ext cx="5953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0627A"/>
                </a:solidFill>
              </a:defRPr>
            </a:pPr>
            <a:r>
              <a:rPr sz="713" b="0">
                <a:solidFill>
                  <a:srgbClr val="50627A"/>
                </a:solidFill>
              </a:rPr>
              <a:t>https://www.finra.org/rules-guidance/guidance/reports/2026-finra-annual-regulatory-oversight-report/gen-ai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329E02-A7A4-46EA-ABC9-7CEDF3C4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910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01828"/>
                </a:solidFill>
              </a:defRPr>
            </a:pPr>
            <a:r>
              <a:rPr sz="938" b="1">
                <a:solidFill>
                  <a:srgbClr val="101828"/>
                </a:solidFill>
              </a:rPr>
              <a:t>6. SIFMA 2025 Capital Markets Fact Book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4A8BB0-3A7E-41EF-AC56-AB9D3806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391025"/>
            <a:ext cx="5953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0627A"/>
                </a:solidFill>
              </a:defRPr>
            </a:pPr>
            <a:r>
              <a:rPr sz="713" b="0">
                <a:solidFill>
                  <a:srgbClr val="50627A"/>
                </a:solidFill>
              </a:rPr>
              <a:t>https://www.sifma.org/research/statistics/fact-book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4A3F6A-6C36-49C4-BCB2-6BD159A7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01828"/>
                </a:solidFill>
              </a:defRPr>
            </a:pPr>
            <a:r>
              <a:rPr sz="938" b="1">
                <a:solidFill>
                  <a:srgbClr val="101828"/>
                </a:solidFill>
              </a:rPr>
              <a:t>7. SIFMA communications-retention modernization letters, 2025-2026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297486-66F7-402A-9614-29C571BF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819650"/>
            <a:ext cx="5953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0627A"/>
                </a:solidFill>
              </a:defRPr>
            </a:pPr>
            <a:r>
              <a:rPr sz="713" b="0">
                <a:solidFill>
                  <a:srgbClr val="50627A"/>
                </a:solidFill>
              </a:rPr>
              <a:t>https://www.sifma.org/advocacy/letters/data-supporting-the-modernization-of-the-communications-retention-requirements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4D43BB-B0E5-4F83-9EAD-0D4858B6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482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01828"/>
                </a:solidFill>
              </a:defRPr>
            </a:pPr>
            <a:r>
              <a:rPr sz="938" b="1">
                <a:solidFill>
                  <a:srgbClr val="101828"/>
                </a:solidFill>
              </a:rPr>
              <a:t>8. J.D. Power 2026 U.S. Financial Advisor Satisfaction Study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C09609-FB0E-475C-8FB3-6E2E472B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248275"/>
            <a:ext cx="5953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0627A"/>
                </a:solidFill>
              </a:defRPr>
            </a:pPr>
            <a:r>
              <a:rPr sz="713" b="0">
                <a:solidFill>
                  <a:srgbClr val="50627A"/>
                </a:solidFill>
              </a:rPr>
              <a:t>https://www.jdpower.com/business/press-releases/2026-u-s-financial-advisor-satisfaction-study/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EAD69E-CFE3-41A2-B8A5-DF72930D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23040D-F209-4798-B65E-F6C88A97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Wealthscape Reporting 2.0 prototype and source, accessed July 30, 2026; Broker-Dealer Strategy Expansion Research Packet, repo docs, July 2026; FINRA 2026 Industry Snapshot; FINRA 2026 Annual Regulatory Oversight Report; FINRA 2026 GenAI topic page; SIFMA 2025 Capital Markets Fact Book; SIFMA communications-retention modernization letters, 2025-2026; J.D. Power 2026 U.S. Financial Advisor Satisfaction Study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69DEEC-CAAB-4487-BF3C-9005DE9E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50643916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A6B386-3577-443C-87C1-E14D15BB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4FBE"/>
                </a:solidFill>
              </a:defRPr>
            </a:pPr>
            <a:r>
              <a:rPr sz="900" b="1">
                <a:solidFill>
                  <a:srgbClr val="5B4FBE"/>
                </a:solidFill>
              </a:rPr>
              <a:t>BIBLIOGRAPHY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184114-2219-47E3-9066-C369C130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95325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625" b="1">
                <a:solidFill>
                  <a:srgbClr val="101828"/>
                </a:solidFill>
              </a:defRPr>
            </a:pPr>
            <a:r>
              <a:rPr sz="2625" b="1">
                <a:solidFill>
                  <a:srgbClr val="101828"/>
                </a:solidFill>
              </a:rPr>
              <a:t>Additional source register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CD6686-3D21-40A1-86E1-666906AA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0627A"/>
                </a:solidFill>
              </a:defRPr>
            </a:pPr>
            <a:r>
              <a:rPr sz="1200" b="0">
                <a:solidFill>
                  <a:srgbClr val="50627A"/>
                </a:solidFill>
              </a:rPr>
              <a:t>Remaining source anchors used for competitive, capability, and Fidelity trend context.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BB6B33-A765-4677-BD8D-FE02B5EA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F3D2A-76DA-4572-8FA0-B3BFAF79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01828"/>
                </a:solidFill>
              </a:defRPr>
            </a:pPr>
            <a:r>
              <a:rPr sz="938" b="1">
                <a:solidFill>
                  <a:srgbClr val="101828"/>
                </a:solidFill>
              </a:rPr>
              <a:t>9. Cerulli State of U.S. Wealth Management Technology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9F061F-FC7F-4574-AFD0-15DEE110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47900"/>
            <a:ext cx="5953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0627A"/>
                </a:solidFill>
              </a:defRPr>
            </a:pPr>
            <a:r>
              <a:rPr sz="713" b="0">
                <a:solidFill>
                  <a:srgbClr val="50627A"/>
                </a:solidFill>
              </a:rPr>
              <a:t>https://www.cerulli.com/reports/state-of-us-wealth-management-technology-2026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583053-D00B-42EB-8134-3BD6DC518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765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01828"/>
                </a:solidFill>
              </a:defRPr>
            </a:pPr>
            <a:r>
              <a:rPr sz="938" b="1">
                <a:solidFill>
                  <a:srgbClr val="101828"/>
                </a:solidFill>
              </a:rPr>
              <a:t>10. Global Relay Industry Insights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1B5C68-FDEC-47C3-B9AD-67464AEE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676525"/>
            <a:ext cx="5953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0627A"/>
                </a:solidFill>
              </a:defRPr>
            </a:pPr>
            <a:r>
              <a:rPr sz="713" b="0">
                <a:solidFill>
                  <a:srgbClr val="50627A"/>
                </a:solidFill>
              </a:rPr>
              <a:t>https://www.globalrelay.com/resources/guides-reports/industry-insights-2026/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F13FBF-BA23-4FEA-96E0-1C7A11A1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01828"/>
                </a:solidFill>
              </a:defRPr>
            </a:pPr>
            <a:r>
              <a:rPr sz="938" b="1">
                <a:solidFill>
                  <a:srgbClr val="101828"/>
                </a:solidFill>
              </a:rPr>
              <a:t>11. Envestnet R2 2026 wealth platform release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993B77-46EE-4037-BBF4-3A6239FF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105150"/>
            <a:ext cx="5953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0627A"/>
                </a:solidFill>
              </a:defRPr>
            </a:pPr>
            <a:r>
              <a:rPr sz="713" b="0">
                <a:solidFill>
                  <a:srgbClr val="50627A"/>
                </a:solidFill>
              </a:rPr>
              <a:t>https://newsroom.envestnet.com/2026-05-19-LIVE-FROM-ELEVATE-2026-Envestnet-Unveils-AI-Driven-Enhancements-and-Accelerates-Financial-Planning-Integration-for-Advisors-on-its-Wealth-Management-Platform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2B5B59-D38A-4400-96E8-9CDB2141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337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01828"/>
                </a:solidFill>
              </a:defRPr>
            </a:pPr>
            <a:r>
              <a:rPr sz="938" b="1">
                <a:solidFill>
                  <a:srgbClr val="101828"/>
                </a:solidFill>
              </a:rPr>
              <a:t>12. Addepar wealth management positioning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F001AC-4485-4D12-BC81-6DAB6774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33775"/>
            <a:ext cx="5953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0627A"/>
                </a:solidFill>
              </a:defRPr>
            </a:pPr>
            <a:r>
              <a:rPr sz="713" b="0">
                <a:solidFill>
                  <a:srgbClr val="50627A"/>
                </a:solidFill>
              </a:rPr>
              <a:t>https://addepar.com/wealth-management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B20A3D-0955-478D-8ECE-B9E6A00E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624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01828"/>
                </a:solidFill>
              </a:defRPr>
            </a:pPr>
            <a:r>
              <a:rPr sz="938" b="1">
                <a:solidFill>
                  <a:srgbClr val="101828"/>
                </a:solidFill>
              </a:rPr>
              <a:t>13. Fidelity Institutional Wealth Management Trends for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92EB0F-EE62-4FBA-BEE0-D10C38DD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962400"/>
            <a:ext cx="5953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0627A"/>
                </a:solidFill>
              </a:defRPr>
            </a:pPr>
            <a:r>
              <a:rPr sz="713" b="0">
                <a:solidFill>
                  <a:srgbClr val="50627A"/>
                </a:solidFill>
              </a:rPr>
              <a:t>https://clearingcustody.fidelity.com/insights/topics/running-your-business/wealth-management-trends-for-2026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04412E-245A-47AB-A219-C2EF00A7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910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01828"/>
                </a:solidFill>
              </a:defRPr>
            </a:pPr>
            <a:r>
              <a:rPr sz="938" b="1">
                <a:solidFill>
                  <a:srgbClr val="101828"/>
                </a:solidFill>
              </a:rPr>
              <a:t>14. Fidelity Institutional AI in Wealth Management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97AC95-5C4D-4480-8398-4FE23D64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391025"/>
            <a:ext cx="5953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0627A"/>
                </a:solidFill>
              </a:defRPr>
            </a:pPr>
            <a:r>
              <a:rPr sz="713" b="0">
                <a:solidFill>
                  <a:srgbClr val="50627A"/>
                </a:solidFill>
              </a:rPr>
              <a:t>https://clearingcustody.fidelity.com/insights/topics/running-your-business/the-current-state-of-ai-in-wealth-management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B07BE7-E535-441F-A452-B00EADC0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101F76-0E8B-42BE-A257-2A0DD4E5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48198"/>
                </a:solidFill>
              </a:defRPr>
            </a:pPr>
            <a:r>
              <a:rPr sz="638" b="0">
                <a:solidFill>
                  <a:srgbClr val="748198"/>
                </a:solidFill>
              </a:rPr>
              <a:t>Sources: Cerulli State of U.S. Wealth Management Technology 2026; Global Relay Industry Insights 2026; Envestnet R2 2026 wealth platform release; Addepar wealth management positioning; Fidelity Institutional Wealth Management Trends for 2026; Fidelity Institutional AI in Wealth Management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5BCE45-6727-427C-8F44-D9661AB3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48198"/>
                </a:solidFill>
              </a:defRPr>
            </a:pPr>
            <a:r>
              <a:rPr sz="675" b="0">
                <a:solidFill>
                  <a:srgbClr val="748198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9800739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2026-07-30T17:49:05.9910000Z</dcterms:created>
  <dcterms:modified xsi:type="dcterms:W3CDTF">2026-07-30T17:49:05.9910000Z</dcterms:modified>
</coreProperties>
</file>