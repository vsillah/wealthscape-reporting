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07a1844da94b2e" /><Relationship Type="http://schemas.openxmlformats.org/officeDocument/2006/relationships/extended-properties" Target="/docProps/app.xml" Id="Rb622df34c61c4fb4" /><Relationship Type="http://schemas.openxmlformats.org/officeDocument/2006/relationships/officeDocument" Target="/ppt/presentation.xml" Id="R3b1e4123bced40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5dbd680e01467c"/>
  </p:sldMasterIdLst>
  <p:notesMasterIdLst>
    <p:notesMasterId xmlns:r="http://schemas.openxmlformats.org/officeDocument/2006/relationships" r:id="R6ed4c4fca1b945fd"/>
  </p:notesMasterIdLst>
  <p:sldIdLst>
    <p:sldId xmlns:r="http://schemas.openxmlformats.org/officeDocument/2006/relationships" id="256" r:id="Rba9163a0fa07478d"/>
    <p:sldId xmlns:r="http://schemas.openxmlformats.org/officeDocument/2006/relationships" id="257" r:id="R58460a1695c242d4"/>
    <p:sldId xmlns:r="http://schemas.openxmlformats.org/officeDocument/2006/relationships" id="258" r:id="R6cc07a7bf76d4600"/>
    <p:sldId xmlns:r="http://schemas.openxmlformats.org/officeDocument/2006/relationships" id="259" r:id="R011e746534ef4729"/>
    <p:sldId xmlns:r="http://schemas.openxmlformats.org/officeDocument/2006/relationships" id="260" r:id="Rc61b6be9eaf547e9"/>
    <p:sldId xmlns:r="http://schemas.openxmlformats.org/officeDocument/2006/relationships" id="261" r:id="Rd084ca6097a74858"/>
    <p:sldId xmlns:r="http://schemas.openxmlformats.org/officeDocument/2006/relationships" id="262" r:id="R8ab251a1e8a144a9"/>
    <p:sldId xmlns:r="http://schemas.openxmlformats.org/officeDocument/2006/relationships" id="263" r:id="Rb28051312dbe4a6e"/>
    <p:sldId xmlns:r="http://schemas.openxmlformats.org/officeDocument/2006/relationships" id="264" r:id="Rf3a3414b38d84b51"/>
    <p:sldId xmlns:r="http://schemas.openxmlformats.org/officeDocument/2006/relationships" id="265" r:id="R759c5e8f6925467e"/>
    <p:sldId xmlns:r="http://schemas.openxmlformats.org/officeDocument/2006/relationships" id="266" r:id="Rcd6a72338b104bae"/>
    <p:sldId xmlns:r="http://schemas.openxmlformats.org/officeDocument/2006/relationships" id="267" r:id="R9d95c4bafc304a3b"/>
    <p:sldId xmlns:r="http://schemas.openxmlformats.org/officeDocument/2006/relationships" id="268" r:id="R660d1598e3fd41f2"/>
    <p:sldId xmlns:r="http://schemas.openxmlformats.org/officeDocument/2006/relationships" id="269" r:id="Rb9d54b8b852e4d12"/>
    <p:sldId xmlns:r="http://schemas.openxmlformats.org/officeDocument/2006/relationships" id="270" r:id="R32ff79831c9147d9"/>
    <p:sldId xmlns:r="http://schemas.openxmlformats.org/officeDocument/2006/relationships" id="271" r:id="R381eb02a10f747dd"/>
    <p:sldId xmlns:r="http://schemas.openxmlformats.org/officeDocument/2006/relationships" id="272" r:id="R1df2128f1e4e4966"/>
    <p:sldId xmlns:r="http://schemas.openxmlformats.org/officeDocument/2006/relationships" id="273" r:id="R3fb6716c006a4d1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b6a54b92a1644f7" /><Relationship Type="http://schemas.openxmlformats.org/officeDocument/2006/relationships/slideMaster" Target="/ppt/slideMasters/slideMaster1.xml" Id="R395dbd680e01467c" /><Relationship Type="http://schemas.openxmlformats.org/officeDocument/2006/relationships/notesMaster" Target="/ppt/notesMasters/notesMaster1.xml" Id="R6ed4c4fca1b945fd" /><Relationship Type="http://schemas.openxmlformats.org/officeDocument/2006/relationships/presProps" Target="/ppt/presProps.xml" Id="R681167bc082c42f2" /><Relationship Type="http://schemas.openxmlformats.org/officeDocument/2006/relationships/tableStyles" Target="/ppt/tableStyles.xml" Id="R5c889f84d8404af8" /><Relationship Type="http://schemas.openxmlformats.org/officeDocument/2006/relationships/slide" Target="/ppt/slides/slide1.xml" Id="Rba9163a0fa07478d" /><Relationship Type="http://schemas.openxmlformats.org/officeDocument/2006/relationships/slide" Target="/ppt/slides/slide2.xml" Id="R58460a1695c242d4" /><Relationship Type="http://schemas.openxmlformats.org/officeDocument/2006/relationships/slide" Target="/ppt/slides/slide3.xml" Id="R6cc07a7bf76d4600" /><Relationship Type="http://schemas.openxmlformats.org/officeDocument/2006/relationships/slide" Target="/ppt/slides/slide4.xml" Id="R011e746534ef4729" /><Relationship Type="http://schemas.openxmlformats.org/officeDocument/2006/relationships/slide" Target="/ppt/slides/slide5.xml" Id="Rc61b6be9eaf547e9" /><Relationship Type="http://schemas.openxmlformats.org/officeDocument/2006/relationships/slide" Target="/ppt/slides/slide6.xml" Id="Rd084ca6097a74858" /><Relationship Type="http://schemas.openxmlformats.org/officeDocument/2006/relationships/slide" Target="/ppt/slides/slide7.xml" Id="R8ab251a1e8a144a9" /><Relationship Type="http://schemas.openxmlformats.org/officeDocument/2006/relationships/slide" Target="/ppt/slides/slide8.xml" Id="Rb28051312dbe4a6e" /><Relationship Type="http://schemas.openxmlformats.org/officeDocument/2006/relationships/slide" Target="/ppt/slides/slide9.xml" Id="Rf3a3414b38d84b51" /><Relationship Type="http://schemas.openxmlformats.org/officeDocument/2006/relationships/slide" Target="/ppt/slides/slide10.xml" Id="R759c5e8f6925467e" /><Relationship Type="http://schemas.openxmlformats.org/officeDocument/2006/relationships/slide" Target="/ppt/slides/slide11.xml" Id="Rcd6a72338b104bae" /><Relationship Type="http://schemas.openxmlformats.org/officeDocument/2006/relationships/slide" Target="/ppt/slides/slide12.xml" Id="R9d95c4bafc304a3b" /><Relationship Type="http://schemas.openxmlformats.org/officeDocument/2006/relationships/slide" Target="/ppt/slides/slide13.xml" Id="R660d1598e3fd41f2" /><Relationship Type="http://schemas.openxmlformats.org/officeDocument/2006/relationships/slide" Target="/ppt/slides/slide14.xml" Id="Rb9d54b8b852e4d12" /><Relationship Type="http://schemas.openxmlformats.org/officeDocument/2006/relationships/slide" Target="/ppt/slides/slide15.xml" Id="R32ff79831c9147d9" /><Relationship Type="http://schemas.openxmlformats.org/officeDocument/2006/relationships/slide" Target="/ppt/slides/slide16.xml" Id="R381eb02a10f747dd" /><Relationship Type="http://schemas.openxmlformats.org/officeDocument/2006/relationships/slide" Target="/ppt/slides/slide17.xml" Id="R1df2128f1e4e4966" /><Relationship Type="http://schemas.openxmlformats.org/officeDocument/2006/relationships/slide" Target="/ppt/slides/slide18.xml" Id="R3fb6716c006a4d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dc731f807946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422859376e4fbe" /><Relationship Type="http://schemas.openxmlformats.org/officeDocument/2006/relationships/notesMaster" Target="/ppt/notesMasters/notesMaster1.xml" Id="R5a8b5e33ff2a47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e58ebdca1d4535" /><Relationship Type="http://schemas.openxmlformats.org/officeDocument/2006/relationships/notesMaster" Target="/ppt/notesMasters/notesMaster1.xml" Id="Rdc91b373a84b47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d48b2bfbb644d4" /><Relationship Type="http://schemas.openxmlformats.org/officeDocument/2006/relationships/notesMaster" Target="/ppt/notesMasters/notesMaster1.xml" Id="R9d1f8abd92b144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50e8cb2b7b4c2c" /><Relationship Type="http://schemas.openxmlformats.org/officeDocument/2006/relationships/notesMaster" Target="/ppt/notesMasters/notesMaster1.xml" Id="R5a7c27f4937844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fb5910ed7c4c76" /><Relationship Type="http://schemas.openxmlformats.org/officeDocument/2006/relationships/notesMaster" Target="/ppt/notesMasters/notesMaster1.xml" Id="Rd31f55607b6946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5ffba17b044ef8" /><Relationship Type="http://schemas.openxmlformats.org/officeDocument/2006/relationships/notesMaster" Target="/ppt/notesMasters/notesMaster1.xml" Id="Rc9d043d86a4549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13495cc2554618" /><Relationship Type="http://schemas.openxmlformats.org/officeDocument/2006/relationships/notesMaster" Target="/ppt/notesMasters/notesMaster1.xml" Id="R426a54a7da1a481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7092e541cb41eb" /><Relationship Type="http://schemas.openxmlformats.org/officeDocument/2006/relationships/notesMaster" Target="/ppt/notesMasters/notesMaster1.xml" Id="Rbb1a040478df49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1780ceea15459f" /><Relationship Type="http://schemas.openxmlformats.org/officeDocument/2006/relationships/notesMaster" Target="/ppt/notesMasters/notesMaster1.xml" Id="Rab63fd4812344d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437696fe8bd47d9" /><Relationship Type="http://schemas.openxmlformats.org/officeDocument/2006/relationships/notesMaster" Target="/ppt/notesMasters/notesMaster1.xml" Id="R061306f209bb41a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b1e0968010d440a" /><Relationship Type="http://schemas.openxmlformats.org/officeDocument/2006/relationships/notesMaster" Target="/ppt/notesMasters/notesMaster1.xml" Id="R2ac2821e16934f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d77365e9e8748be" /><Relationship Type="http://schemas.openxmlformats.org/officeDocument/2006/relationships/notesMaster" Target="/ppt/notesMasters/notesMaster1.xml" Id="R0aab2bfd7736493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fac987d43e4242" /><Relationship Type="http://schemas.openxmlformats.org/officeDocument/2006/relationships/notesMaster" Target="/ppt/notesMasters/notesMaster1.xml" Id="R779b004b1a0c4df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ae687e1426341fb" /><Relationship Type="http://schemas.openxmlformats.org/officeDocument/2006/relationships/notesMaster" Target="/ppt/notesMasters/notesMaster1.xml" Id="Rf66910fb79574c4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331f2fa30f84a93" /><Relationship Type="http://schemas.openxmlformats.org/officeDocument/2006/relationships/notesMaster" Target="/ppt/notesMasters/notesMaster1.xml" Id="R67357f0ee29041c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84497a171ae4957" /><Relationship Type="http://schemas.openxmlformats.org/officeDocument/2006/relationships/notesMaster" Target="/ppt/notesMasters/notesMaster1.xml" Id="R5f7387ad5c2b45e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2191992b9124f67" /><Relationship Type="http://schemas.openxmlformats.org/officeDocument/2006/relationships/notesMaster" Target="/ppt/notesMasters/notesMaster1.xml" Id="R62f723582e83402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190a53cd1044604" /><Relationship Type="http://schemas.openxmlformats.org/officeDocument/2006/relationships/notesMaster" Target="/ppt/notesMasters/notesMaster1.xml" Id="R12ed7ce73eb147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  <a:p xmlns:a="http://schemas.openxmlformats.org/drawingml/2006/main">
            <a:r>
              <a:t>FINRA Regulatory Notice 24-09, June 27, 2024: obligations when using generative AI and LLMs. https://www.finra.org/rules-guidance/notices/24-09</a:t>
            </a:r>
          </a:p>
          <a:p xmlns:a="http://schemas.openxmlformats.org/drawingml/2006/main">
            <a:r>
              <a:t>FINRA 2024 Annual Regulatory Oversight Report: off-channel communications capture, supervision, and recordkeeping considerations. https://www.finra.org/sites/default/files/2024-01/2024-annual-regulatory-oversight-report.pdf</a:t>
            </a:r>
          </a:p>
          <a:p xmlns:a="http://schemas.openxmlformats.org/drawingml/2006/main">
            <a:r>
              <a:t>Deloitte, The agentic AI productivity wave is heading for wealth management, 2026. https://www.deloitte.com/us/en/insights/industry/financial-services/financial-services-industry-predictions/2026/agentic-ai-wealth-management-productivity.html</a:t>
            </a:r>
          </a:p>
          <a:p xmlns:a="http://schemas.openxmlformats.org/drawingml/2006/main">
            <a:r>
              <a:t>Cerulli, State of U.S. Wealth Management Technology 2024. https://www.cerulli.com/reports/state-of-us-wealth-management-technology-2024</a:t>
            </a:r>
          </a:p>
          <a:p xmlns:a="http://schemas.openxmlformats.org/drawingml/2006/main">
            <a:r>
              <a:t>Broadridge, Wealth Management Solutions. https://www.broadridge.com/who-we-serve/wealth-management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FINRA Regulatory Notice 24-09, June 27, 2024: obligations when using generative AI and LLMs. https://www.finra.org/rules-guidance/notices/24-09</a:t>
            </a:r>
          </a:p>
          <a:p xmlns:a="http://schemas.openxmlformats.org/drawingml/2006/main">
            <a:r>
              <a:t>FINRA 2024 Annual Regulatory Oversight Report: off-channel communications capture, supervision, and recordkeeping considerations. https://www.finra.org/sites/default/files/2024-01/2024-annual-regulatory-oversight-report.pdf</a:t>
            </a:r>
          </a:p>
          <a:p xmlns:a="http://schemas.openxmlformats.org/drawingml/2006/main">
            <a:r>
              <a:t>Deloitte, The agentic AI productivity wave is heading for wealth management, 2026. https://www.deloitte.com/us/en/insights/industry/financial-services/financial-services-industry-predictions/2026/agentic-ai-wealth-management-productivity.html</a:t>
            </a:r>
          </a:p>
          <a:p xmlns:a="http://schemas.openxmlformats.org/drawingml/2006/main">
            <a:r>
              <a:t>Cerulli, State of U.S. Wealth Management Technology 2024. https://www.cerulli.com/reports/state-of-us-wealth-management-technology-2024</a:t>
            </a:r>
          </a:p>
          <a:p xmlns:a="http://schemas.openxmlformats.org/drawingml/2006/main">
            <a:r>
              <a:t>Broadridge, Wealth Management Solutions. https://www.broadridge.com/who-we-serve/wealth-management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FINRA Regulatory Notice 24-09, June 27, 2024: obligations when using generative AI and LLMs. https://www.finra.org/rules-guidance/notices/24-09</a:t>
            </a:r>
          </a:p>
          <a:p xmlns:a="http://schemas.openxmlformats.org/drawingml/2006/main">
            <a:r>
              <a:t>Fidelity Institutional, The current state of AI in wealth management. https://clearingcustody.fidelity.com/insights/topics/running-your-business/the-current-state-of-ai-in-wealth-management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Cerulli, State of U.S. Wealth Management Technology 2024. https://www.cerulli.com/reports/state-of-us-wealth-management-technology-2024</a:t>
            </a:r>
          </a:p>
          <a:p xmlns:a="http://schemas.openxmlformats.org/drawingml/2006/main">
            <a:r>
              <a:t>Cerulli, Financial Advisor Practices that Embrace Technology Surge in Productivity and Efficiency. https://www.cerulli.com/press-releases/financial-advisor-practices-that-embrace-technology-surge-in-productivity-and-efficiency</a:t>
            </a:r>
          </a:p>
          <a:p xmlns:a="http://schemas.openxmlformats.org/drawingml/2006/main">
            <a:r>
              <a:t>Broadridge, Wealth Management Solutions. https://www.broadridge.com/who-we-serve/wealth-management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FINRA 2024 Annual Regulatory Oversight Report: off-channel communications capture, supervision, and recordkeeping considerations. https://www.finra.org/sites/default/files/2024-01/2024-annual-regulatory-oversight-report.pdf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FINRA Regulatory Notice 24-09, June 27, 2024: obligations when using generative AI and LLMs. https://www.finra.org/rules-guidance/notices/24-09</a:t>
            </a:r>
          </a:p>
          <a:p xmlns:a="http://schemas.openxmlformats.org/drawingml/2006/main">
            <a:r>
              <a:t>FINRA 2024 Annual Regulatory Oversight Report: off-channel communications capture, supervision, and recordkeeping considerations. https://www.finra.org/sites/default/files/2024-01/2024-annual-regulatory-oversight-report.pdf</a:t>
            </a:r>
          </a:p>
          <a:p xmlns:a="http://schemas.openxmlformats.org/drawingml/2006/main">
            <a:r>
              <a:t>Fidelity Institutional, The current state of AI in wealth management. https://clearingcustody.fidelity.com/insights/topics/running-your-business/the-current-state-of-ai-in-wealth-management</a:t>
            </a:r>
          </a:p>
          <a:p xmlns:a="http://schemas.openxmlformats.org/drawingml/2006/main">
            <a:r>
              <a:t>Deloitte, The agentic AI productivity wave is heading for wealth management, 2026. https://www.deloitte.com/us/en/insights/industry/financial-services/financial-services-industry-predictions/2026/agentic-ai-wealth-management-productivity.html</a:t>
            </a:r>
          </a:p>
          <a:p xmlns:a="http://schemas.openxmlformats.org/drawingml/2006/main">
            <a:r>
              <a:t>Cerulli, State of U.S. Wealth Management Technology 2024. https://www.cerulli.com/reports/state-of-us-wealth-management-technology-2024</a:t>
            </a:r>
          </a:p>
          <a:p xmlns:a="http://schemas.openxmlformats.org/drawingml/2006/main">
            <a:r>
              <a:t>Cerulli, Financial Advisor Practices that Embrace Technology Surge in Productivity and Efficiency. https://www.cerulli.com/press-releases/financial-advisor-practices-that-embrace-technology-surge-in-productivity-and-efficiency</a:t>
            </a:r>
          </a:p>
          <a:p xmlns:a="http://schemas.openxmlformats.org/drawingml/2006/main">
            <a:r>
              <a:t>Broadridge, Wealth Management Solutions. https://www.broadridge.com/who-we-serve/wealth-management</a:t>
            </a:r>
          </a:p>
          <a:p xmlns:a="http://schemas.openxmlformats.org/drawingml/2006/main">
            <a:r>
              <a:t>Wealthscape Reporting 2.0 prototype screenshots captured from local build and included in docs/presentations/assets/wealthscape-2-0/.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f33b5bf0b34a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cfc4cd73b64935" /><Relationship Type="http://schemas.openxmlformats.org/officeDocument/2006/relationships/slideLayout" Target="/ppt/slideLayouts/slideLayout1.xml" Id="Rf687c98ab62f40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87c98ab62f40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941ea1bf7d4f47" /><Relationship Type="http://schemas.openxmlformats.org/officeDocument/2006/relationships/notesSlide" Target="/ppt/notesSlides/notesSlide1.xml" Id="R611cb9d9599f4d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a192e19041438a" /><Relationship Type="http://schemas.openxmlformats.org/officeDocument/2006/relationships/notesSlide" Target="/ppt/notesSlides/notesSlide2.xml" Id="R6ecab911e2654b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dcf0a54e34450e" /><Relationship Type="http://schemas.openxmlformats.org/officeDocument/2006/relationships/notesSlide" Target="/ppt/notesSlides/notesSlide3.xml" Id="R1d495c6da84d48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2d8d481654651" /><Relationship Type="http://schemas.openxmlformats.org/officeDocument/2006/relationships/notesSlide" Target="/ppt/notesSlides/notesSlide4.xml" Id="R30ba67edff744e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ff0759fab4387" /><Relationship Type="http://schemas.openxmlformats.org/officeDocument/2006/relationships/notesSlide" Target="/ppt/notesSlides/notesSlide5.xml" Id="Rc995835bd7fa4c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1bbac487348eb" /><Relationship Type="http://schemas.openxmlformats.org/officeDocument/2006/relationships/notesSlide" Target="/ppt/notesSlides/notesSlide6.xml" Id="R2f0bf41da06c46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76f8b52d943de" /><Relationship Type="http://schemas.openxmlformats.org/officeDocument/2006/relationships/image" Target="/ppt/media/image.png" Id="Re0751359a44d4050" /><Relationship Type="http://schemas.openxmlformats.org/officeDocument/2006/relationships/notesSlide" Target="/ppt/notesSlides/notesSlide7.xml" Id="R3c0e4c8eb0a946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33f9d69424321" /><Relationship Type="http://schemas.openxmlformats.org/officeDocument/2006/relationships/image" Target="/ppt/media/image2.png" Id="Re36fa7cdd0414c46" /><Relationship Type="http://schemas.openxmlformats.org/officeDocument/2006/relationships/notesSlide" Target="/ppt/notesSlides/notesSlide8.xml" Id="R92a9a49048e2430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d10fcb6374edf" /><Relationship Type="http://schemas.openxmlformats.org/officeDocument/2006/relationships/image" Target="/ppt/media/image3.png" Id="Rd3682ec583854f5a" /><Relationship Type="http://schemas.openxmlformats.org/officeDocument/2006/relationships/image" Target="/ppt/media/image4.png" Id="Rc0e3d7c0365d4827" /><Relationship Type="http://schemas.openxmlformats.org/officeDocument/2006/relationships/notesSlide" Target="/ppt/notesSlides/notesSlide9.xml" Id="R9c0477defa1a40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33a91f60324fe5" /><Relationship Type="http://schemas.openxmlformats.org/officeDocument/2006/relationships/image" Target="/ppt/media/image5.png" Id="Rec74afebdee34398" /><Relationship Type="http://schemas.openxmlformats.org/officeDocument/2006/relationships/image" Target="/ppt/media/image6.png" Id="Rb2cdfcb70fb54ea3" /><Relationship Type="http://schemas.openxmlformats.org/officeDocument/2006/relationships/notesSlide" Target="/ppt/notesSlides/notesSlide10.xml" Id="R931d692a3a5f4b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6c3669bfd437d" /><Relationship Type="http://schemas.openxmlformats.org/officeDocument/2006/relationships/image" Target="/ppt/media/image7.png" Id="Ra1203cf4979e4e94" /><Relationship Type="http://schemas.openxmlformats.org/officeDocument/2006/relationships/notesSlide" Target="/ppt/notesSlides/notesSlide11.xml" Id="Rab9f951f3715439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350b0d5dd4e95" /><Relationship Type="http://schemas.openxmlformats.org/officeDocument/2006/relationships/image" Target="/ppt/media/image8.png" Id="Rfdc42aca7fe0411a" /><Relationship Type="http://schemas.openxmlformats.org/officeDocument/2006/relationships/notesSlide" Target="/ppt/notesSlides/notesSlide12.xml" Id="R4150a790d43648e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a2e5c96a34793" /><Relationship Type="http://schemas.openxmlformats.org/officeDocument/2006/relationships/notesSlide" Target="/ppt/notesSlides/notesSlide13.xml" Id="Ra0ab5555ccef4e1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93b60e8fa6406e" /><Relationship Type="http://schemas.openxmlformats.org/officeDocument/2006/relationships/notesSlide" Target="/ppt/notesSlides/notesSlide14.xml" Id="Rc1095390b5444ab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c43a00f694b68" /><Relationship Type="http://schemas.openxmlformats.org/officeDocument/2006/relationships/notesSlide" Target="/ppt/notesSlides/notesSlide15.xml" Id="R4bd55014326049f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cc940218414b50" /><Relationship Type="http://schemas.openxmlformats.org/officeDocument/2006/relationships/notesSlide" Target="/ppt/notesSlides/notesSlide16.xml" Id="Rc198496c79d2494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404f3700c645d6" /><Relationship Type="http://schemas.openxmlformats.org/officeDocument/2006/relationships/notesSlide" Target="/ppt/notesSlides/notesSlide17.xml" Id="R522e675a670b4f0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2a6778ea44449e" /><Relationship Type="http://schemas.openxmlformats.org/officeDocument/2006/relationships/notesSlide" Target="/ppt/notesSlides/notesSlide18.xml" Id="Re04d6d612ec64a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8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4793C3-1738-4237-8AB5-8A5E60F6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50258-18D7-4D0E-B816-0E3BF1C7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437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</a:defRPr>
            </a:pPr>
            <a:r>
              <a:rPr sz="1275" b="1">
                <a:solidFill>
                  <a:srgbClr val="101828"/>
                </a:solidFill>
              </a:rPr>
              <a:t>W2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F42AA-5D61-45DD-AD85-3DF2E3DA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667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WEALTHSCAPE REPORTING 2.0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A9416-060A-4A52-B7A3-CDA824CF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8763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Strategy and prototype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AAA414-96D3-4C14-BE8C-C9547534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7810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From reporting utility to governed intelligence layer.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73C9A-C241-48FF-80A0-58A683EC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581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9E2EC"/>
                </a:solidFill>
              </a:defRPr>
            </a:pPr>
            <a:r>
              <a:rPr sz="1575" b="0">
                <a:solidFill>
                  <a:srgbClr val="D9E2EC"/>
                </a:solidFill>
              </a:rPr>
              <a:t>A role-aware product strategy for broker-dealer reporting workflows, AI governance, supervision evidence, and advisor productivity.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506D7F-93B0-4388-8BAE-FCA356C5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14450"/>
            <a:ext cx="3048000" cy="4429125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A33837-0B1D-44DD-A587-149DEED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383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CORE MESSAGE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F9A736-3E44-42F2-A669-6508FD9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47900"/>
            <a:ext cx="242887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1828"/>
                </a:solidFill>
              </a:defRPr>
            </a:pPr>
            <a:r>
              <a:rPr sz="2625" b="1">
                <a:solidFill>
                  <a:srgbClr val="101828"/>
                </a:solidFill>
              </a:rPr>
              <a:t>Strategy stays strategic. Prototype stays functional.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AFA81-2B9F-4742-BB22-9C75FA7D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34000"/>
            <a:ext cx="2476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4D5D1D-3B81-4DC1-A580-447FC7CC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0C90C4-ED1E-4164-88F9-4C8411FD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Wealthscape prototype and strategy research packet.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C8F5C8-BEDB-4A44-9DB2-B514C7DD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638959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E465D2-452D-48D5-AC71-AB69AE01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3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518980-5BFA-45A8-BBFA-216F86DF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02 / EXECUTIVE 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681307-6638-43B4-8A11-44092930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028700"/>
            <a:ext cx="7429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The work reframes reporting as an operating layer for distinct user decisions.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9DE4C4-4F25-4DD6-BEAA-2A1F805E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723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054"/>
                </a:solidFill>
              </a:defRPr>
            </a:pPr>
            <a:r>
              <a:rPr sz="1500" b="0">
                <a:solidFill>
                  <a:srgbClr val="344054"/>
                </a:solidFill>
              </a:rPr>
              <a:t>The prototype now separates two concerns that were bleeding together: dashboards give users functional execution views; strategy pages explain the opportunity and link to the prototype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5D0C50-EF30-41D9-B8EA-005A2BA8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990600"/>
            <a:ext cx="2190750" cy="4000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5EB37D-2AAE-4A06-BF9D-BF131F8E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858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What changed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332CC2-6743-484F-9BBB-78146CE9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57375"/>
            <a:ext cx="1666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Persona views</a:t>
            </a:r>
          </a:p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Operating loops</a:t>
            </a:r>
          </a:p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AI review states</a:t>
            </a:r>
          </a:p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Strategy hyperlinks</a:t>
            </a:r>
          </a:p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Source-backed deck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B36512-E178-4B04-B578-95A9BD72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476750"/>
            <a:ext cx="1619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4CBD71-38F8-4869-BD01-117DFCF3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093B63-A19E-442F-9325-EFB0082F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Prototype build; FINRA AI and oversight guidance; Deloitte, Cerulli, Broadridge wealth-management research.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A32D80-8A88-41A6-9D0D-9F6DD997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111379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EF2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4CC6CB-8C28-4AE4-89CB-39972831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03 / WHAT WAS BUILT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04182-5CFE-4C43-BCA3-ED89A87D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6477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The prototype now has a clearer product architecture.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3B3D94-0F4B-4C72-87AC-0898F52B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288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279D50-F2CB-40D9-AAA0-7A593576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907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Role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13BE0-B209-40AA-9E88-E3F3AE76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765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</a:defRPr>
            </a:pPr>
            <a:r>
              <a:rPr sz="1050" b="0">
                <a:solidFill>
                  <a:srgbClr val="344054"/>
                </a:solidFill>
              </a:rPr>
              <a:t>Home office, OSJ, and advisor modes emphasize different queues, alerts, and outcomes.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25DFD4-A625-4E0E-8873-4B8DF986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956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0E9ED4-BD29-4261-B1C3-945A3E88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575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Functional dashboards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7C38E0-9EB7-4A8C-9D1B-61E0057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432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</a:defRPr>
            </a:pPr>
            <a:r>
              <a:rPr sz="1050" b="0">
                <a:solidFill>
                  <a:srgbClr val="344054"/>
                </a:solidFill>
              </a:rPr>
              <a:t>Dashboard surfaces avoid strategy copy and focus on actions, status, and evidence.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E36C7-8419-4DFF-A3F0-DAB91D59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62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D697B6-B258-4547-84A1-88154095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7242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Strategy page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3006A1-983F-428F-9FF0-8385DF9D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100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</a:defRPr>
            </a:pPr>
            <a:r>
              <a:rPr sz="1050" b="0">
                <a:solidFill>
                  <a:srgbClr val="344054"/>
                </a:solidFill>
              </a:rPr>
              <a:t>Strategic rationale and prioritized opportunities live in one narrative layer with prototype links.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86DD1C-8002-4A13-8C2F-127DD0CD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291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022F2E-8638-49C7-B2E7-AF187E34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910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Report workflow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9B7A89-8DC7-4AA1-854A-7BBDA97B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767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</a:defRPr>
            </a:pPr>
            <a:r>
              <a:rPr sz="1050" b="0">
                <a:solidFill>
                  <a:srgbClr val="344054"/>
                </a:solidFill>
              </a:rPr>
              <a:t>AI governance and report-builder context are visible where configuration decisions happen.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FC7BD-DDFF-4316-99BF-908EFA1A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958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F5FAED-ABBF-408B-822D-E05AB9E6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0577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Proof package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8C9B5E-6248-4032-AE45-8FF128E5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3435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</a:defRPr>
            </a:pPr>
            <a:r>
              <a:rPr sz="1050" b="0">
                <a:solidFill>
                  <a:srgbClr val="344054"/>
                </a:solidFill>
              </a:rPr>
              <a:t>Screenshots, recommendations, and bibliography are bundled for executive review.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806E20-9A3C-4E1C-870A-A944446C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02FBF9-66A8-44D2-9DA4-4CBC8DE9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Wealthscape prototype implementation and screenshot evidence.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B42950-2EC4-4861-B817-FE34B6BF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827263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FB927D-9BA4-4318-BE91-DE7EA6E9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04 / 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B23FDD-B6E4-430F-9107-3C3C9D2A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7905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Broker-dealer platforms are being judged by their ability to reduce operating burden.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3D948F-F901-4927-86C6-3012A8FE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048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31459-8EBB-4E47-B5A7-1A730B19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AI pressure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0B3933-32EB-460C-A892-9F7200A25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285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</a:defRPr>
            </a:pPr>
            <a:r>
              <a:rPr sz="1275" b="0">
                <a:solidFill>
                  <a:srgbClr val="344054"/>
                </a:solidFill>
              </a:rPr>
              <a:t>Firms need governance and supervision around AI-enabled workflows.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10627B-3F22-4AE0-B873-C4CA69D6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05125"/>
            <a:ext cx="3048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7A21BC-9D3E-40CC-9429-0297CBC1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57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Advisor productivity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3C777D-29E0-4D6C-BABD-ADCAE2D0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33800"/>
            <a:ext cx="285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</a:defRPr>
            </a:pPr>
            <a:r>
              <a:rPr sz="1275" b="0">
                <a:solidFill>
                  <a:srgbClr val="344054"/>
                </a:solidFill>
              </a:rPr>
              <a:t>Technology adoption is tied to practice growth and efficiency.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883A4-A92D-4EED-AF58-67335547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05125"/>
            <a:ext cx="3048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E0E121-22F6-4267-8438-0D78F122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57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Platform consolidation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369C4-58B6-4C3D-86EC-B417A3D8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33800"/>
            <a:ext cx="285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</a:defRPr>
            </a:pPr>
            <a:r>
              <a:rPr sz="1275" b="0">
                <a:solidFill>
                  <a:srgbClr val="344054"/>
                </a:solidFill>
              </a:rPr>
              <a:t>Home offices need persona-aware views across risk, reporting, and adoption.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3DBFCC-27CA-4189-9F7A-044E9967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78F07-3BFC-4A8F-B5AD-CD30F191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FINRA 24-09; FINRA 2024 Annual Regulatory Oversight Report; Deloitte; Cerulli; Broadridge.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AD3F91-F098-43F2-B1B6-22CD4221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461445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18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80E9E2-117C-4582-B51C-4E676DB4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7C948"/>
                </a:solidFill>
              </a:defRPr>
            </a:pPr>
            <a:r>
              <a:rPr sz="825" b="1">
                <a:solidFill>
                  <a:srgbClr val="F7C948"/>
                </a:solidFill>
              </a:rPr>
              <a:t>05 / DESIGN PRINCIPLE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5BD386-F322-46D5-9CB7-7ABE0E03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638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Separate strategy from operation, then connect them with proof.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F6ABB-EEC3-47B1-BA0D-DF4F1B73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430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18016A-74A8-4C39-9FB2-F5E05E2F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28587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Dashboards are task surfaces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138EB-9464-40C2-BDD0-9C724EA5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90675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BD5E1"/>
                </a:solidFill>
              </a:defRPr>
            </a:pPr>
            <a:r>
              <a:rPr sz="1125" b="0">
                <a:solidFill>
                  <a:srgbClr val="CBD5E1"/>
                </a:solidFill>
              </a:rPr>
              <a:t>They should help users act, filter, inspect, and resolve.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233CBE-31CE-4FE8-A64A-D9CB393A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81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0E4AB4-D57F-40DC-9EEC-758B2195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2412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Strategy is the rationale 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9D4CA-999A-4527-87EF-CA9C7FB7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28925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BD5E1"/>
                </a:solidFill>
              </a:defRPr>
            </a:pPr>
            <a:r>
              <a:rPr sz="1125" b="0">
                <a:solidFill>
                  <a:srgbClr val="CBD5E1"/>
                </a:solidFill>
              </a:rPr>
              <a:t>It explains why the opportunity matters and what tradeoff is being made.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E93673-9DB8-4F7B-BFCE-C608E6E1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19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C0B12E-C2BC-4A7A-A3DE-AB17C916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76237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Links create traceability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206A92-218D-444F-AF09-330EBAF7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67175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BD5E1"/>
                </a:solidFill>
              </a:defRPr>
            </a:pPr>
            <a:r>
              <a:rPr sz="1125" b="0">
                <a:solidFill>
                  <a:srgbClr val="CBD5E1"/>
                </a:solidFill>
              </a:rPr>
              <a:t>A strategic claim should open the prototype surface where the solution is addressed.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01758D-1AEB-4112-853C-96D9DB6B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609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9E2EC"/>
                </a:solidFill>
              </a:defRPr>
            </a:pPr>
            <a:r>
              <a:rPr sz="1575" b="0">
                <a:solidFill>
                  <a:srgbClr val="D9E2EC"/>
                </a:solidFill>
              </a:rPr>
              <a:t>This is the direct response to the bleed-through issue: strategy should not explain itself inside the dashboard.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25CCD5-A9CE-4F0B-A031-9485FDA4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4C2133-B567-479A-823B-F953DFF8A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Wealthscape prototype QA feedback and strategy page architecture.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A1D449-4C69-48AD-B2A8-600A0826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207527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EF2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E8B4A2-E177-480F-B07F-A5E205FF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06 / PERSONA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415E8C-EB0E-450F-863A-D10C37BE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Each persona needs a different operating question answered first.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542F5-17BE-411A-9FFC-56CFF91D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1242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69562D-C2D6-4D6F-8661-C6FD78D5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124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F7A19-7C53-4FE4-9215-B8C914EE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95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Home office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638A0C-FE2C-40FF-8A22-0BF6DE7E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67125"/>
            <a:ext cx="24574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Where are enterprise risk, productivity, AI review, and retention signals requiring action?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509B06-4B63-413F-AACB-1F74DB47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31242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B1B0B4-3DC4-4860-A040-97B8068F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3124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2388AA-3354-4B1B-80D8-FDFFBB5E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95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OSJ / branch leader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8A0904-F489-4BC3-AE10-20AEB0A4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667125"/>
            <a:ext cx="24574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Which branch or advisor needs intervention, evidence review, or coaching support?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F195F2-F816-4D52-B116-AAB345C4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14625"/>
            <a:ext cx="31242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4CC387-697E-4485-9D45-24013827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14625"/>
            <a:ext cx="3124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0083D4-B7CD-4275-8DFC-C1742CB0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95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Advisor / hybrid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ACCCBA-9CCB-4DE0-BB5A-E8627C35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67125"/>
            <a:ext cx="24574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What report, client context, or workflow step should be completed next?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6CB885-FB43-42C4-A775-7B390E4D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ECBC62-5D4B-477E-A459-EC70C5DB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Wealthscape persona prototype screens and role-specific reporting workflow analysis.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4D9DCF-DDAE-4FDE-8746-DB68870E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2425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954370-7218-4197-A954-41E3B220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07 / FUNCTIONAL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970808-F650-464F-AFA4-084CA37B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52863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Home-office dashboard = command workflow.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20DEF-B63C-4529-AB1B-B97C8640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Strategy copy belongs on the strategy page; this view should make work visible and actionable.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751359a44d4050"/>
          <a:srcRect xmlns:a="http://schemas.openxmlformats.org/drawingml/2006/main" l="347" t="0" r="3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000125"/>
            <a:ext cx="4714875" cy="3429000"/>
          </a:xfrm>
          <a:prstGeom xmlns:a="http://schemas.openxmlformats.org/drawingml/2006/main" prst="roundRect">
            <a:avLst>
              <a:gd name="adj" fmla="val 2222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FF1579-23F6-4CFF-989C-52121F62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33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4D70E7-C30A-4B1F-83A9-BF3998AA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7662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8"/>
                </a:solidFill>
              </a:defRPr>
            </a:pPr>
            <a:r>
              <a:rPr sz="1500" b="1">
                <a:solidFill>
                  <a:srgbClr val="101828"/>
                </a:solidFill>
              </a:rPr>
              <a:t>Operational metrics first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53B581-3F26-405C-8DE8-7C88FA48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81425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44054"/>
                </a:solidFill>
              </a:defRPr>
            </a:pPr>
            <a:r>
              <a:rPr sz="1125" b="0">
                <a:solidFill>
                  <a:srgbClr val="344054"/>
                </a:solidFill>
              </a:rPr>
              <a:t>Risk, AI queue, productivity, and retention are summarized as work to inspect.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72B545-6872-4B1F-9FAF-752A1BB5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81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2B857-64B7-4472-BD7B-A0C164F3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437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8"/>
                </a:solidFill>
              </a:defRPr>
            </a:pPr>
            <a:r>
              <a:rPr sz="1500" b="1">
                <a:solidFill>
                  <a:srgbClr val="101828"/>
                </a:solidFill>
              </a:rPr>
              <a:t>Actions must earn their place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223836-A31D-43ED-A18F-E4A90C1D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9175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44054"/>
                </a:solidFill>
              </a:defRPr>
            </a:pPr>
            <a:r>
              <a:rPr sz="1125" b="0">
                <a:solidFill>
                  <a:srgbClr val="344054"/>
                </a:solidFill>
              </a:rPr>
              <a:t>Operating-loop buttons should carry destination context, not duplicate side navigation.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A7D138-AE15-4C08-A094-1CD6423F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29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2C1EAA-5889-4B8E-86AF-E51717D4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7212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8"/>
                </a:solidFill>
              </a:defRPr>
            </a:pPr>
            <a:r>
              <a:rPr sz="1500" b="1">
                <a:solidFill>
                  <a:srgbClr val="101828"/>
                </a:solidFill>
              </a:rPr>
              <a:t>Strategy stays off-canvas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6574B6-E47F-4862-B249-05226B93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76925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44054"/>
                </a:solidFill>
              </a:defRPr>
            </a:pPr>
            <a:r>
              <a:rPr sz="1125" b="0">
                <a:solidFill>
                  <a:srgbClr val="344054"/>
                </a:solidFill>
              </a:rPr>
              <a:t>The dashboard proves functionality; the strategy page explains why it matters.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BF3449-2778-484B-A153-642D025C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556F8E-B4EB-43F8-BB32-357500FF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Wealthscape home-office dashboard screenshot; user QA feedback on operating-loop redundancy.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5FBAC5-3834-4437-A134-6BD70AED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995683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18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951A22-D9BE-4979-8526-14A8B1F6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7C948"/>
                </a:solidFill>
              </a:defRPr>
            </a:pPr>
            <a:r>
              <a:rPr sz="825" b="1">
                <a:solidFill>
                  <a:srgbClr val="F7C948"/>
                </a:solidFill>
              </a:rPr>
              <a:t>08 / STRATEGY PAGE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DAEA95-6F56-4637-B6FA-388D8E33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685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The strategy page becomes the explanation layer with live prototype references.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6fa7cdd0414c46"/>
          <a:srcRect xmlns:a="http://schemas.openxmlformats.org/drawingml/2006/main" l="0" t="7692" r="0" b="76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1095375"/>
            <a:ext cx="5143500" cy="3143250"/>
          </a:xfrm>
          <a:prstGeom xmlns:a="http://schemas.openxmlformats.org/drawingml/2006/main" prst="roundRect">
            <a:avLst>
              <a:gd name="adj" fmla="val 2424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919B8-A3AD-40A0-AF27-8C320516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005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7C948"/>
                </a:solidFill>
              </a:defRPr>
            </a:pPr>
            <a:r>
              <a:rPr sz="900" b="1">
                <a:solidFill>
                  <a:srgbClr val="F7C948"/>
                </a:solidFill>
              </a:rPr>
              <a:t>Opportunity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43A137-7BA6-4608-B7BC-9B0D88E01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381500"/>
            <a:ext cx="3667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Role-aware journeys and governed AI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CC49A-ACE1-4B86-B5D2-08465948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149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7C948"/>
                </a:solidFill>
              </a:defRPr>
            </a:pPr>
            <a:r>
              <a:rPr sz="900" b="1">
                <a:solidFill>
                  <a:srgbClr val="F7C948"/>
                </a:solidFill>
              </a:rPr>
              <a:t>Recommendation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99F751-D708-478C-BC7D-9D10F5ED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895850"/>
            <a:ext cx="3667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Prioritize dashboards, packets, and report-builder controls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D38B0F-E191-4CE7-B0E5-E8D5C96E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7C948"/>
                </a:solidFill>
              </a:defRPr>
            </a:pPr>
            <a:r>
              <a:rPr sz="900" b="1">
                <a:solidFill>
                  <a:srgbClr val="F7C948"/>
                </a:solidFill>
              </a:rPr>
              <a:t>Prototype link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A35F58-C206-4CC8-A667-643C28AB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410200"/>
            <a:ext cx="3667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Open the screen where the recommendation is addressed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FBF2DA-0404-4C90-A05C-1FD5A2CB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57DED3-8969-446D-AFDF-B60B60D3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Wealthscape strategy page screenshot and recommendation-linking pattern.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88CB80-BDFC-4714-95D6-49C5ED45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108060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EF2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A8F71D-2ECE-4397-8C68-A65C9DD0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09 / PROTOTYPE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B2C45-AE6D-48B1-9968-1E1CD77C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590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Screenshots should function as proof blocks, not decoration.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682ec583854f5a"/>
          <a:srcRect xmlns:a="http://schemas.openxmlformats.org/drawingml/2006/main" l="0" t="11346" r="0" b="113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714625"/>
            <a:ext cx="5715000" cy="3190875"/>
          </a:xfrm>
          <a:prstGeom xmlns:a="http://schemas.openxmlformats.org/drawingml/2006/main" prst="roundRect">
            <a:avLst>
              <a:gd name="adj" fmla="val 2388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3d7c0365d4827"/>
          <a:srcRect xmlns:a="http://schemas.openxmlformats.org/drawingml/2006/main" l="0" t="8791" r="0" b="87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16954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C18CB5-59A0-423F-B0DA-3DB0FC64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29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32E560-DACD-44EC-8715-99794287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72000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8"/>
                </a:solidFill>
              </a:defRPr>
            </a:pPr>
            <a:r>
              <a:rPr sz="1500" b="1">
                <a:solidFill>
                  <a:srgbClr val="101828"/>
                </a:solidFill>
              </a:rPr>
              <a:t>Functional proof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12851-61B1-4EA0-A552-07092877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876800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44054"/>
                </a:solidFill>
              </a:defRPr>
            </a:pPr>
            <a:r>
              <a:rPr sz="1125" b="0">
                <a:solidFill>
                  <a:srgbClr val="344054"/>
                </a:solidFill>
              </a:rPr>
              <a:t>The dashboard shows work queues, alerts, and actions.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E02C12-9852-4E7B-B2A9-18876F58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340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00774F-287F-477C-873F-48CC94BA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47687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8"/>
                </a:solidFill>
              </a:defRPr>
            </a:pPr>
            <a:r>
              <a:rPr sz="1500" b="1">
                <a:solidFill>
                  <a:srgbClr val="101828"/>
                </a:solidFill>
              </a:rPr>
              <a:t>Strategic proof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086F23-A750-41D5-8724-B67DD0DF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781675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44054"/>
                </a:solidFill>
              </a:defRPr>
            </a:pPr>
            <a:r>
              <a:rPr sz="1125" b="0">
                <a:solidFill>
                  <a:srgbClr val="344054"/>
                </a:solidFill>
              </a:rPr>
              <a:t>The strategy page preserves rationale and hyperlinks.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F46405-C0E5-469C-BD91-D557BA4A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6121C4-2704-45AF-9DE1-243513DF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Wealthscape prototype screenshots captured from local build.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A2325B-9177-4937-BC32-AD30A8A5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53597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A55BD8-D964-4240-A004-7EB2AA50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10 / PERSONA VARIATION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5637E9-BC13-4266-8576-73CCFC2E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38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Persona changes should alter the job-to-be-done, not just labels.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74afebdee34398"/>
          <a:srcRect xmlns:a="http://schemas.openxmlformats.org/drawingml/2006/main" l="0" t="17382" r="0" b="173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29375" y="952500"/>
            <a:ext cx="4953000" cy="2333625"/>
          </a:xfrm>
          <a:prstGeom xmlns:a="http://schemas.openxmlformats.org/drawingml/2006/main" prst="roundRect">
            <a:avLst>
              <a:gd name="adj" fmla="val 3265"/>
            </a:avLst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dfcb70fb54ea3"/>
          <a:srcRect xmlns:a="http://schemas.openxmlformats.org/drawingml/2006/main" l="0" t="20710" r="0" b="207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29375" y="3619500"/>
            <a:ext cx="4953000" cy="209550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680A5-7132-4290-98F1-A079E17A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OSJ 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786DC4-B934-47D2-9554-BFA65A5E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95625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Branch-level coaching, capture status, field risk, and advisor intervention.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F435C1-A518-452B-98A9-9172BD42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Advisor 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93390-C554-47A8-8F78-663DC405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</a:defRPr>
            </a:pPr>
            <a:r>
              <a:rPr sz="1350" b="0">
                <a:solidFill>
                  <a:srgbClr val="344054"/>
                </a:solidFill>
              </a:rPr>
              <a:t>Report workflow, client context, and next-best action support.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3AAB8-C23A-4CE9-BD7A-0F6CE8D5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92466E-6CE4-4167-8424-AD14E7A9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Wealthscape OSJ and hybrid dashboard screenshots.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96211C-486F-44AC-A542-FA525C3F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036703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18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0D9FD5-8791-4ECB-B0C5-1A143AAF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7C948"/>
                </a:solidFill>
              </a:defRPr>
            </a:pPr>
            <a:r>
              <a:rPr sz="825" b="1">
                <a:solidFill>
                  <a:srgbClr val="F7C948"/>
                </a:solidFill>
              </a:rPr>
              <a:t>11 / AI GOVERNANCE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DB2EBE-7754-4613-A660-4E9DC635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334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AI review belongs inside the report workflow.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54C9FD-FDC0-402D-9E0D-636647C8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BD5E1"/>
                </a:solidFill>
              </a:defRPr>
            </a:pPr>
            <a:r>
              <a:rPr sz="1350" b="0">
                <a:solidFill>
                  <a:srgbClr val="CBD5E1"/>
                </a:solidFill>
              </a:rPr>
              <a:t>Risk is created during configuration and generation, so governance should be visible before a report reaches a client.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203cf4979e4e94"/>
          <a:srcRect xmlns:a="http://schemas.openxmlformats.org/drawingml/2006/main" l="0" t="3415" r="0" b="34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1750" y="1066800"/>
            <a:ext cx="5095875" cy="3429000"/>
          </a:xfrm>
          <a:prstGeom xmlns:a="http://schemas.openxmlformats.org/drawingml/2006/main" prst="roundRect">
            <a:avLst>
              <a:gd name="adj" fmla="val 2222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BEB84E-A0D8-4F70-93D0-BE5F524C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AE0491-4214-4EAD-BFAD-E3FB810A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Policy visibility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7AD839-BF42-4761-ABE6-0E48C3E1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BD5E1"/>
                </a:solidFill>
              </a:defRPr>
            </a:pPr>
            <a:r>
              <a:rPr sz="1125" b="0">
                <a:solidFill>
                  <a:srgbClr val="CBD5E1"/>
                </a:solidFill>
              </a:rPr>
              <a:t>Approved and blocked language should be visible before content reaches a client.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4BA77D-3ABE-4C90-BBE5-DE00D0FB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910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81C03A-3F38-4C1C-93B9-63A69DD1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Review queue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CC4F59-353B-4548-A378-15A764DE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8675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BD5E1"/>
                </a:solidFill>
              </a:defRPr>
            </a:pPr>
            <a:r>
              <a:rPr sz="1125" b="0">
                <a:solidFill>
                  <a:srgbClr val="CBD5E1"/>
                </a:solidFill>
              </a:rPr>
              <a:t>Flagged AI narratives need clear escalation and owner state.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D8ADEB-760D-4FF6-AC7E-FAF35FE1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807E9-ECC0-433D-A6D7-2C0A4B8CA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Reusable controls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E450FC-685C-4619-9641-E8289E32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34050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BD5E1"/>
                </a:solidFill>
              </a:defRPr>
            </a:pPr>
            <a:r>
              <a:rPr sz="1125" b="0">
                <a:solidFill>
                  <a:srgbClr val="CBD5E1"/>
                </a:solidFill>
              </a:rPr>
              <a:t>Disclosure blocks and configuration checks create repeatable governance.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62F398-5C90-49BA-BD34-7F92254C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3F6E1B-4D14-44AB-80C3-B3CE4655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FINRA 24-09; Fidelity AI in wealth management; Wealthscape report-builder screenshot.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C67592-10E3-4063-BC70-8D17DDA4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294924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D3A695-BD04-47A2-A1D8-6ACA6A17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12 / ANALYTICS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41A333-66D1-43D7-A51C-2831DA3B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4293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Adoption and retention analytics turn platform usage into field action.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42aca7fe0411a"/>
          <a:srcRect xmlns:a="http://schemas.openxmlformats.org/drawingml/2006/main" l="0" t="5165" r="0" b="51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05550" y="1066800"/>
            <a:ext cx="5000625" cy="3238500"/>
          </a:xfrm>
          <a:prstGeom xmlns:a="http://schemas.openxmlformats.org/drawingml/2006/main" prst="roundRect">
            <a:avLst>
              <a:gd name="adj" fmla="val 2353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5B4D5-132E-4871-BF61-A7108730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14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246D0B-8B71-4515-98C2-33AABFFB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8132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Usage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F82DE0-EBA6-4714-9EAB-E1C1FA99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3337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Signals workflow drag before a branch escalates.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05C93A-40B6-4857-AAFB-02D8BA9C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114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A8FEFC-6E5B-4489-975E-DD716E1B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5762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Tickets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4F9A84-DD52-4FE2-ADFB-AB92794B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100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Separates enablement issues from product friction.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55C552-077E-44A5-AF31-E5086CDB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52975"/>
            <a:ext cx="114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D6347C-DF93-4470-99AA-894B34AE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3392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Retention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F9BF1D-D3AD-47F2-B6B0-A2E4BB36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863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Connects platform engagement to advisor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69985C-6B13-46CA-8E7C-E83540EB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306850-ED93-4C50-9F43-65DEC272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Cerulli advisor technology research; Broadridge wealth platform positioning; Wealthscape analytics screenshot.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C49ADF-2380-4512-9B81-6071D2BB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311494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EF2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B861CF-AEAD-4C6F-9C5C-4EF691BA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13 / RECOMMENDATION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36EC46-DC27-40CB-B23E-0A7E6F5E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6762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Prioritize opportunities by operating value and proof readiness.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A6281B-94EE-4DDA-90DF-02E0299F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4953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47EBE-E4EA-4E8B-ADB6-3E55869F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8"/>
                </a:solidFill>
              </a:defRPr>
            </a:pPr>
            <a:r>
              <a:rPr sz="1500" b="1">
                <a:solidFill>
                  <a:srgbClr val="101828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666A09-7CB2-48A2-A34C-BA9FEC69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527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Clean IA boundaries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2BF354-527A-4053-A69A-B74746FA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95600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Dashboard = actions. Strategy = rationale. Links = proof.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6CDD8F-96E8-45E6-8D9B-801F5BD2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81375"/>
            <a:ext cx="4953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8C2E9E-C41F-4892-ACFE-6B8B0A71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FDFDFA-931D-46A7-BB4A-0487E15F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6232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Deepen persona function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5ED9C8-DC45-44C3-AEAB-84F14050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05225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Queues, filters, packet states, and report-builder guardrails.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E3EF94-2478-4B05-9AF4-C9F2A871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4953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44FF2F-5F20-4FBD-ABA1-581BC67A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F5DA4E-0D08-4AB3-8DF4-D311CDB1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71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Create evidence trails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70452B-2268-4E61-964D-0AD9417F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14850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Source footers, screenshot proof, and bibliography mapping.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9B9C78-C70D-452B-97BC-72649A9F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00625"/>
            <a:ext cx="4953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C88D22-A8A2-4737-B74D-C4CE45DB6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1492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24CFB5-B663-4C80-830D-F08F8E22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8157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Package rollout 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66E0B1-2429-4ED8-9A86-7E0014A2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24475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Success metrics, branch adoption support, and governance cadence.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0BF606-17D3-46E3-AA3F-E59EE53B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DBEDC0-346A-4C79-BD01-98754A041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Prototype QA feedback and strategy recommendations.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8BFA0F-46F7-4EA9-8428-DD395D5E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9084308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D38E32-7E8C-4713-BF26-2041F150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14 / OPERATING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4F7AA2-3271-4F58-942C-B0874AAD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6191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The product should operate through a governed morning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7152CD-4D51-4DE8-B20E-12FEFD52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6013C2-891A-4C01-B300-51F2FBD9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3748C5-E708-4C73-BB85-C39B6BA7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29000"/>
            <a:ext cx="152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8"/>
                </a:solidFill>
              </a:defRPr>
            </a:pPr>
            <a:r>
              <a:rPr sz="2175" b="1">
                <a:solidFill>
                  <a:srgbClr val="101828"/>
                </a:solidFill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EEBDB-3E77-488F-8AF0-843F14C0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52875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Risk, AI, adoption, retention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E69F10-EF31-4628-8E05-1C905E1E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52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968E83-35F3-4564-BCCF-0DA0CBAB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52750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63588A-C964-4D99-BB45-00AFA1B5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29000"/>
            <a:ext cx="152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8"/>
                </a:solidFill>
              </a:defRPr>
            </a:pPr>
            <a:r>
              <a:rPr sz="2175" b="1">
                <a:solidFill>
                  <a:srgbClr val="101828"/>
                </a:solidFill>
              </a:rPr>
              <a:t>Rank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6DD49F-70BD-44D7-8111-52BE4B54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952875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Urgency, client impact, aging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78D4AF-37C1-4FB5-B6D7-800E8D1E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66276C-292A-4E4C-AA94-EB5708EC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7B9427-DE1B-4DE1-AFE8-345F8A90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29000"/>
            <a:ext cx="152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8"/>
                </a:solidFill>
              </a:defRPr>
            </a:pPr>
            <a:r>
              <a:rPr sz="2175" b="1">
                <a:solidFill>
                  <a:srgbClr val="101828"/>
                </a:solidFill>
              </a:rPr>
              <a:t>Route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0234F7-FF6E-49BF-B5B6-42351EA9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52875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Owner, packet, report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77E973-4103-4690-BF1F-CAE54F71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52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363E75-4A1D-48FC-B405-D3FF7090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52750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1DCCE9-319A-4379-B49B-AACF2BA3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29000"/>
            <a:ext cx="152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8"/>
                </a:solidFill>
              </a:defRPr>
            </a:pPr>
            <a:r>
              <a:rPr sz="2175" b="1">
                <a:solidFill>
                  <a:srgbClr val="101828"/>
                </a:solidFill>
              </a:rPr>
              <a:t>Resolve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4FF704-631C-4F86-8D26-93543B4C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952875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Action, evidence, follow-up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779C61-DD8C-48A1-99AD-B6DA673A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66A1F1-2DFC-4E44-A3DF-A94231B1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FINRA supervision guidance and Wealthscape operating-loop prototype.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88CF80-DC0C-4690-B599-D1FD4D02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575052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18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17D6DF-04A1-421F-8135-9A5DEC07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7C948"/>
                </a:solidFill>
              </a:defRPr>
            </a:pPr>
            <a:r>
              <a:rPr sz="825" b="1">
                <a:solidFill>
                  <a:srgbClr val="F7C948"/>
                </a:solidFill>
              </a:rPr>
              <a:t>15 /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42D3D-C5FB-474A-9ADF-681DC49CA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7048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Sequence the work so strategic clarity and prototype utility reinforce each other.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8E6575-EE48-4C50-BFE2-A631802F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0480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ABED9-AAA6-4C95-92F1-A65F4EB8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C1F36C-A0A6-4D9F-A96E-C5948532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8"/>
                </a:solidFill>
              </a:defRPr>
            </a:pPr>
            <a:r>
              <a:rPr sz="1200" b="1">
                <a:solidFill>
                  <a:srgbClr val="101828"/>
                </a:solidFill>
              </a:rPr>
              <a:t>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F1A972-A0F5-4FE3-A29F-E14382FC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38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828"/>
                </a:solidFill>
              </a:defRPr>
            </a:pPr>
            <a:r>
              <a:rPr sz="2025" b="1">
                <a:solidFill>
                  <a:srgbClr val="101828"/>
                </a:solidFill>
              </a:rPr>
              <a:t>IA cleanup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1189E-4497-4DF8-8C4C-5A7E03CD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38625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Remove strategy bleed-through, improve operating-loop destination context.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E76830-44F6-46C2-8F74-A6F6C954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57500"/>
            <a:ext cx="30480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F6C4B-C54D-4EAB-A689-326E04DC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575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C578EA-F07A-433F-A9DD-8D68914C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28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NEXT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E7767D-006B-4023-91BF-6106AC38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14750"/>
            <a:ext cx="238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828"/>
                </a:solidFill>
              </a:defRPr>
            </a:pPr>
            <a:r>
              <a:rPr sz="2025" b="1">
                <a:solidFill>
                  <a:srgbClr val="101828"/>
                </a:solidFill>
              </a:rPr>
              <a:t>Persona depth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268B46-6628-4B24-A96E-15D61DB7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238625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Make each view change by role: queues, packets, report context, field action.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05387-24A0-44A4-AD0E-1670898F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57500"/>
            <a:ext cx="30480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7AF391-3C80-4D14-B62F-6451CB1D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575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77C85D-0171-4168-8F3D-53664720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289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LATER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21146D-8F2D-4AA7-B390-104354C5B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14750"/>
            <a:ext cx="238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828"/>
                </a:solidFill>
              </a:defRPr>
            </a:pPr>
            <a:r>
              <a:rPr sz="2025" b="1">
                <a:solidFill>
                  <a:srgbClr val="101828"/>
                </a:solidFill>
              </a:rPr>
              <a:t>Scale package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564FAF-3EDC-4F9D-88CE-9A626622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238625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44054"/>
                </a:solidFill>
              </a:defRPr>
            </a:pPr>
            <a:r>
              <a:rPr sz="1200" b="0">
                <a:solidFill>
                  <a:srgbClr val="344054"/>
                </a:solidFill>
              </a:rPr>
              <a:t>Add metrics, governance routines, enablement playbooks, and evidence ledger.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3E8766-8C5C-4480-A998-1847BAE1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71D6AB-376D-48C6-8B34-57CD9687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Strategy recommendations and prototype QA findings.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ECD7DC-56BD-45A2-BBD4-E56D8D17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228118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712352-552C-4EEF-B0DB-5D9F7C23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16 / SUCCESS METRICS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EC283A-D07A-447A-A671-1D96D221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04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Measure the prototype by whether it changes the operating conversation.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2B4D55-5759-4DF0-B0DF-07457F69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Workflow clarity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C3E80D-EC3E-4F22-ACD9-58C7110D7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</a:defRPr>
            </a:pPr>
            <a:r>
              <a:rPr sz="1275" b="0">
                <a:solidFill>
                  <a:srgbClr val="344054"/>
                </a:solidFill>
              </a:rPr>
              <a:t>Can users tell what each action does and where it goes?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6DEBBE-7342-4F48-8983-B97352CB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2190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57A89-65CF-4291-A7DD-0133D7A4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62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Persona distinction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4B49B3-0B18-47AD-9700-179447DB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623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</a:defRPr>
            </a:pPr>
            <a:r>
              <a:rPr sz="1275" b="0">
                <a:solidFill>
                  <a:srgbClr val="344054"/>
                </a:solidFill>
              </a:rPr>
              <a:t>Does the view change meaningfully by role?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2A2E38-AD25-442A-8269-5B151C04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190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4F4437-479F-4318-8E09-204EF507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Governance readiness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84F3A6-450E-4744-AD05-F6AB85D1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</a:defRPr>
            </a:pPr>
            <a:r>
              <a:rPr sz="1275" b="0">
                <a:solidFill>
                  <a:srgbClr val="344054"/>
                </a:solidFill>
              </a:rPr>
              <a:t>Are AI and supervision risks visible before escalation?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17AD5-865B-4F45-9240-4402E74A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2190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C838F3-1AE6-44BB-BBE4-82EA87D8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33875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Evidence quality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2E7A9D-BA2C-4E50-8596-1D1B9D3F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339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</a:defRPr>
            </a:pPr>
            <a:r>
              <a:rPr sz="1275" b="0">
                <a:solidFill>
                  <a:srgbClr val="344054"/>
                </a:solidFill>
              </a:rPr>
              <a:t>Can strategy claims be traced to source and prototype proof?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7A8B3B-802A-4CC9-8E52-74B01E1B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34000"/>
            <a:ext cx="2190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0A599D-F9F8-4FB0-9C05-63FE9B6A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1ACBBD-3884-410B-9451-D75BAD15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Prototype QA criteria, user feedback, and recommendation traceability model.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96521F-1BDD-4488-847E-D38B2FA8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0840962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EF2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37293-CF90-4535-AEA4-E5C9F647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17 / DECISION AGENDA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E7F4F2-7C3E-4CFC-95D1-0DC7233F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429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The next review should decide which proof points graduate into the product roadmap.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6BDC12-6007-4DD7-9BEC-02FEA633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6192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4EA7A5-297D-42DE-940B-57253D3A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1190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28"/>
                </a:solidFill>
              </a:defRPr>
            </a:pPr>
            <a:r>
              <a:rPr sz="1350" b="1">
                <a:solidFill>
                  <a:srgbClr val="101828"/>
                </a:solidFill>
              </a:rPr>
              <a:t>Approve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04ED4-BCCE-479A-8731-38538897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952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Dashboard and strategy separation as the product rule.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44F77C-274D-4CBB-AEA2-164FD444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16192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B6B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63200-6FA6-4BA0-AA4A-271159CE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4775"/>
            <a:ext cx="1190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Prioritize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746F3B-346E-425A-8930-CC85848B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5762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Operating-loop destinations and persona-specific task states.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0D1212-79AF-4950-9EF3-ECBF57EB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6192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76A1BA-0660-4F11-A6F4-023A9718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9650"/>
            <a:ext cx="1190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Validate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4C304A-6C68-4A5B-8021-8CB0B60F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76250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Which evidence sources and screenshots are board-ready.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56514B-4909-4868-934B-92D4ABAF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31A766-05DF-41D6-9E41-AD47CCD3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Sources: Wealthscape prototype review and strategy recommendation package.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48785-F23F-4C6C-BB72-253A47BE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1471345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866E0F-445F-4449-88C3-CAD49247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18 / BIBLIOGRAPHY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708129-2F23-4FB5-8FB9-ACBEA762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419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28"/>
                </a:solidFill>
              </a:defRPr>
            </a:pPr>
            <a:r>
              <a:rPr sz="3225" b="1">
                <a:solidFill>
                  <a:srgbClr val="101828"/>
                </a:solidFill>
              </a:rPr>
              <a:t>Source register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CF3862-4EFA-4251-9247-7BF85F9E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FINRA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EB2E48-BD2D-4864-AEA7-2C0F75DD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050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44054"/>
                </a:solidFill>
              </a:defRPr>
            </a:pPr>
            <a:r>
              <a:rPr sz="1125" b="0">
                <a:solidFill>
                  <a:srgbClr val="344054"/>
                </a:solidFill>
              </a:rPr>
              <a:t>Regulatory Notice 24-09; 2024 Annual Regulatory Oversight Report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4DDAFF-3987-4152-9F30-7315C0B9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Fidelity Institutional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CD2571-0528-434D-90DD-4A3E25F3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146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44054"/>
                </a:solidFill>
              </a:defRPr>
            </a:pPr>
            <a:r>
              <a:rPr sz="1125" b="0">
                <a:solidFill>
                  <a:srgbClr val="344054"/>
                </a:solidFill>
              </a:rPr>
              <a:t>The current state of AI in wealth management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C0CCDF-AA0E-481E-B0DA-FF46113D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Deloitte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8EED1E-F6E9-46D2-B058-5500A5BE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242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44054"/>
                </a:solidFill>
              </a:defRPr>
            </a:pPr>
            <a:r>
              <a:rPr sz="1125" b="0">
                <a:solidFill>
                  <a:srgbClr val="344054"/>
                </a:solidFill>
              </a:rPr>
              <a:t>Agentic AI productivity wave in wealth management; generative AI in financial services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565DEE-93BE-467B-83F8-F6C4EFF9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Cerulli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0B1F6-B1C0-4547-A858-A2E47DE2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338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44054"/>
                </a:solidFill>
              </a:defRPr>
            </a:pPr>
            <a:r>
              <a:rPr sz="1125" b="0">
                <a:solidFill>
                  <a:srgbClr val="344054"/>
                </a:solidFill>
              </a:rPr>
              <a:t>State of U.S. Wealth Management Technology 2024; advisor technology productivity release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6FD354-A7A5-4161-B2A5-0E5F6CAC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Broadridge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AD4347-E948-4F1A-9E42-3FF0A0CC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434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44054"/>
                </a:solidFill>
              </a:defRPr>
            </a:pPr>
            <a:r>
              <a:rPr sz="1125" b="0">
                <a:solidFill>
                  <a:srgbClr val="344054"/>
                </a:solidFill>
              </a:rPr>
              <a:t>Wealth Management Solutions and advisor platform materials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C8B5A1-72E1-4AC0-B418-DA5D83F4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Prototype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5A7B6-38F2-40B6-A7DA-BEFE1537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530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44054"/>
                </a:solidFill>
              </a:defRPr>
            </a:pPr>
            <a:r>
              <a:rPr sz="1125" b="0">
                <a:solidFill>
                  <a:srgbClr val="344054"/>
                </a:solidFill>
              </a:rPr>
              <a:t>Wealthscape Reporting 2.0 screenshots captured from the local prototype build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99773E-4188-4144-BDA1-4F2F83E8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F3C812-A59C-442A-A142-86598B73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Full URLs are included in speaker notes on each cited slide.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B3FFD9-E6EB-4275-91DE-9C92199E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865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</a:defRPr>
            </a:pPr>
            <a:r>
              <a:rPr sz="750" b="0">
                <a:solidFill>
                  <a:srgbClr val="667085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11614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2026-07-30T18:28:06.9700000Z</dcterms:created>
  <dcterms:modified xsi:type="dcterms:W3CDTF">2026-07-30T18:28:06.9700000Z</dcterms:modified>
</coreProperties>
</file>