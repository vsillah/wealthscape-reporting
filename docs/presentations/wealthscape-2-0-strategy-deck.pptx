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99343960c64a62" /><Relationship Type="http://schemas.openxmlformats.org/officeDocument/2006/relationships/extended-properties" Target="/docProps/app.xml" Id="R2d19b7772794485a" /><Relationship Type="http://schemas.openxmlformats.org/officeDocument/2006/relationships/officeDocument" Target="/ppt/presentation.xml" Id="Ra3b2f7a4f6a14b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50d14c3d574fdc"/>
  </p:sldMasterIdLst>
  <p:notesMasterIdLst>
    <p:notesMasterId xmlns:r="http://schemas.openxmlformats.org/officeDocument/2006/relationships" r:id="Rbebd454038504cfc"/>
  </p:notesMasterIdLst>
  <p:sldIdLst>
    <p:sldId xmlns:r="http://schemas.openxmlformats.org/officeDocument/2006/relationships" id="256" r:id="Rba8c5afdd98847ec"/>
    <p:sldId xmlns:r="http://schemas.openxmlformats.org/officeDocument/2006/relationships" id="257" r:id="R2bd88a1e6d4d4dbd"/>
    <p:sldId xmlns:r="http://schemas.openxmlformats.org/officeDocument/2006/relationships" id="258" r:id="Rb6263f043a1b4a85"/>
    <p:sldId xmlns:r="http://schemas.openxmlformats.org/officeDocument/2006/relationships" id="259" r:id="R3505c28fe0184677"/>
    <p:sldId xmlns:r="http://schemas.openxmlformats.org/officeDocument/2006/relationships" id="260" r:id="R099a02089aaf4176"/>
    <p:sldId xmlns:r="http://schemas.openxmlformats.org/officeDocument/2006/relationships" id="261" r:id="Re65cc87c659a4c0e"/>
    <p:sldId xmlns:r="http://schemas.openxmlformats.org/officeDocument/2006/relationships" id="262" r:id="R28ed5f0aadf74409"/>
    <p:sldId xmlns:r="http://schemas.openxmlformats.org/officeDocument/2006/relationships" id="263" r:id="R51a4b8eb7f254542"/>
    <p:sldId xmlns:r="http://schemas.openxmlformats.org/officeDocument/2006/relationships" id="264" r:id="R447a3e031ad44f01"/>
    <p:sldId xmlns:r="http://schemas.openxmlformats.org/officeDocument/2006/relationships" id="265" r:id="R061cc0c7114440a9"/>
    <p:sldId xmlns:r="http://schemas.openxmlformats.org/officeDocument/2006/relationships" id="266" r:id="R3c6c67253beb4b05"/>
    <p:sldId xmlns:r="http://schemas.openxmlformats.org/officeDocument/2006/relationships" id="267" r:id="Rd301de3b8f644c7c"/>
    <p:sldId xmlns:r="http://schemas.openxmlformats.org/officeDocument/2006/relationships" id="268" r:id="R677fe92c455d4418"/>
    <p:sldId xmlns:r="http://schemas.openxmlformats.org/officeDocument/2006/relationships" id="269" r:id="R19f4b20f62f640d9"/>
    <p:sldId xmlns:r="http://schemas.openxmlformats.org/officeDocument/2006/relationships" id="270" r:id="R9cea4f86450b4100"/>
    <p:sldId xmlns:r="http://schemas.openxmlformats.org/officeDocument/2006/relationships" id="271" r:id="R8a01e0a962c54e46"/>
    <p:sldId xmlns:r="http://schemas.openxmlformats.org/officeDocument/2006/relationships" id="272" r:id="Rc7c8c7fa306a435a"/>
    <p:sldId xmlns:r="http://schemas.openxmlformats.org/officeDocument/2006/relationships" id="273" r:id="R846aff059c7e40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ac8b2af4a54ea1" /><Relationship Type="http://schemas.openxmlformats.org/officeDocument/2006/relationships/slideMaster" Target="/ppt/slideMasters/slideMaster1.xml" Id="R3850d14c3d574fdc" /><Relationship Type="http://schemas.openxmlformats.org/officeDocument/2006/relationships/notesMaster" Target="/ppt/notesMasters/notesMaster1.xml" Id="Rbebd454038504cfc" /><Relationship Type="http://schemas.openxmlformats.org/officeDocument/2006/relationships/presProps" Target="/ppt/presProps.xml" Id="R6f80309dc8984fcd" /><Relationship Type="http://schemas.openxmlformats.org/officeDocument/2006/relationships/tableStyles" Target="/ppt/tableStyles.xml" Id="R1e27a6eac6e14958" /><Relationship Type="http://schemas.openxmlformats.org/officeDocument/2006/relationships/slide" Target="/ppt/slides/slide1.xml" Id="Rba8c5afdd98847ec" /><Relationship Type="http://schemas.openxmlformats.org/officeDocument/2006/relationships/slide" Target="/ppt/slides/slide2.xml" Id="R2bd88a1e6d4d4dbd" /><Relationship Type="http://schemas.openxmlformats.org/officeDocument/2006/relationships/slide" Target="/ppt/slides/slide3.xml" Id="Rb6263f043a1b4a85" /><Relationship Type="http://schemas.openxmlformats.org/officeDocument/2006/relationships/slide" Target="/ppt/slides/slide4.xml" Id="R3505c28fe0184677" /><Relationship Type="http://schemas.openxmlformats.org/officeDocument/2006/relationships/slide" Target="/ppt/slides/slide5.xml" Id="R099a02089aaf4176" /><Relationship Type="http://schemas.openxmlformats.org/officeDocument/2006/relationships/slide" Target="/ppt/slides/slide6.xml" Id="Re65cc87c659a4c0e" /><Relationship Type="http://schemas.openxmlformats.org/officeDocument/2006/relationships/slide" Target="/ppt/slides/slide7.xml" Id="R28ed5f0aadf74409" /><Relationship Type="http://schemas.openxmlformats.org/officeDocument/2006/relationships/slide" Target="/ppt/slides/slide8.xml" Id="R51a4b8eb7f254542" /><Relationship Type="http://schemas.openxmlformats.org/officeDocument/2006/relationships/slide" Target="/ppt/slides/slide9.xml" Id="R447a3e031ad44f01" /><Relationship Type="http://schemas.openxmlformats.org/officeDocument/2006/relationships/slide" Target="/ppt/slides/slide10.xml" Id="R061cc0c7114440a9" /><Relationship Type="http://schemas.openxmlformats.org/officeDocument/2006/relationships/slide" Target="/ppt/slides/slide11.xml" Id="R3c6c67253beb4b05" /><Relationship Type="http://schemas.openxmlformats.org/officeDocument/2006/relationships/slide" Target="/ppt/slides/slide12.xml" Id="Rd301de3b8f644c7c" /><Relationship Type="http://schemas.openxmlformats.org/officeDocument/2006/relationships/slide" Target="/ppt/slides/slide13.xml" Id="R677fe92c455d4418" /><Relationship Type="http://schemas.openxmlformats.org/officeDocument/2006/relationships/slide" Target="/ppt/slides/slide14.xml" Id="R19f4b20f62f640d9" /><Relationship Type="http://schemas.openxmlformats.org/officeDocument/2006/relationships/slide" Target="/ppt/slides/slide15.xml" Id="R9cea4f86450b4100" /><Relationship Type="http://schemas.openxmlformats.org/officeDocument/2006/relationships/slide" Target="/ppt/slides/slide16.xml" Id="R8a01e0a962c54e46" /><Relationship Type="http://schemas.openxmlformats.org/officeDocument/2006/relationships/slide" Target="/ppt/slides/slide17.xml" Id="Rc7c8c7fa306a435a" /><Relationship Type="http://schemas.openxmlformats.org/officeDocument/2006/relationships/slide" Target="/ppt/slides/slide18.xml" Id="R846aff059c7e40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ebb2eb23bf44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7609e81f874ae4" /><Relationship Type="http://schemas.openxmlformats.org/officeDocument/2006/relationships/notesMaster" Target="/ppt/notesMasters/notesMaster1.xml" Id="R2e7cfef2efb54a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eed0c9e09f46fa" /><Relationship Type="http://schemas.openxmlformats.org/officeDocument/2006/relationships/notesMaster" Target="/ppt/notesMasters/notesMaster1.xml" Id="Rcb9eeaa2e1594d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b2099b0e23414b" /><Relationship Type="http://schemas.openxmlformats.org/officeDocument/2006/relationships/notesMaster" Target="/ppt/notesMasters/notesMaster1.xml" Id="R68b7059ce56d44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1fa20925804256" /><Relationship Type="http://schemas.openxmlformats.org/officeDocument/2006/relationships/notesMaster" Target="/ppt/notesMasters/notesMaster1.xml" Id="Rd007e2febb2a4f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bec20647fd4aac" /><Relationship Type="http://schemas.openxmlformats.org/officeDocument/2006/relationships/notesMaster" Target="/ppt/notesMasters/notesMaster1.xml" Id="R6cd60cc024d149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4eabe14cfd4a94" /><Relationship Type="http://schemas.openxmlformats.org/officeDocument/2006/relationships/notesMaster" Target="/ppt/notesMasters/notesMaster1.xml" Id="R0bafdb0986a045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ffbf2153aa47c3" /><Relationship Type="http://schemas.openxmlformats.org/officeDocument/2006/relationships/notesMaster" Target="/ppt/notesMasters/notesMaster1.xml" Id="R8eaeff9954d447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ccf62e16914fc1" /><Relationship Type="http://schemas.openxmlformats.org/officeDocument/2006/relationships/notesMaster" Target="/ppt/notesMasters/notesMaster1.xml" Id="R5e3a44c2700c4c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5697a45f5f45fd" /><Relationship Type="http://schemas.openxmlformats.org/officeDocument/2006/relationships/notesMaster" Target="/ppt/notesMasters/notesMaster1.xml" Id="Rebd826365f6240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7f675b400947c2" /><Relationship Type="http://schemas.openxmlformats.org/officeDocument/2006/relationships/notesMaster" Target="/ppt/notesMasters/notesMaster1.xml" Id="R276a6a12060b42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f099bb9d124b93" /><Relationship Type="http://schemas.openxmlformats.org/officeDocument/2006/relationships/notesMaster" Target="/ppt/notesMasters/notesMaster1.xml" Id="R4faa2ee07faa4f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b15d4f37cc41e2" /><Relationship Type="http://schemas.openxmlformats.org/officeDocument/2006/relationships/notesMaster" Target="/ppt/notesMasters/notesMaster1.xml" Id="R08aa01745a664f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40dbbf646a4fdf" /><Relationship Type="http://schemas.openxmlformats.org/officeDocument/2006/relationships/notesMaster" Target="/ppt/notesMasters/notesMaster1.xml" Id="R690dd52099c747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d5bccf04302483b" /><Relationship Type="http://schemas.openxmlformats.org/officeDocument/2006/relationships/notesMaster" Target="/ppt/notesMasters/notesMaster1.xml" Id="R35714786bc104e0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81f76f217a4f10" /><Relationship Type="http://schemas.openxmlformats.org/officeDocument/2006/relationships/notesMaster" Target="/ppt/notesMasters/notesMaster1.xml" Id="R76b6c0895b5d417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63ba63f5fc40df" /><Relationship Type="http://schemas.openxmlformats.org/officeDocument/2006/relationships/notesMaster" Target="/ppt/notesMasters/notesMaster1.xml" Id="R4357fbeef1af45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bee1d0149f443af" /><Relationship Type="http://schemas.openxmlformats.org/officeDocument/2006/relationships/notesMaster" Target="/ppt/notesMasters/notesMaster1.xml" Id="R1c560a3938e044d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898d1860bed4b5e" /><Relationship Type="http://schemas.openxmlformats.org/officeDocument/2006/relationships/notesMaster" Target="/ppt/notesMasters/notesMaster1.xml" Id="R34b7ee81c07146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strategy packet: Broker-Dealer Strategy Expansion Research Packet, July 2026.</a:t>
            </a:r>
          </a:p>
          <a:p xmlns:a="http://schemas.openxmlformats.org/drawingml/2006/main">
            <a:r>
              <a:t>Wealthscape Reporting 2.0 prototype captures, July 2026.</a:t>
            </a:r>
          </a:p>
          <a:p xmlns:a="http://schemas.openxmlformats.org/drawingml/2006/main">
            <a:r>
              <a:t>FINRA, 2026 Annual Regulatory Oversight Report and GenAI topic page.</a:t>
            </a:r>
          </a:p>
          <a:p xmlns:a="http://schemas.openxmlformats.org/drawingml/2006/main">
            <a:r>
              <a:t>SIFMA, 2025 Capital Markets Fact Book; communications-retention comment materials.</a:t>
            </a:r>
          </a:p>
          <a:p xmlns:a="http://schemas.openxmlformats.org/drawingml/2006/main">
            <a:r>
              <a:t>J.D. Power, 2026 U.S. Financial Advisor Satisfaction Study.</a:t>
            </a:r>
          </a:p>
          <a:p xmlns:a="http://schemas.openxmlformats.org/drawingml/2006/main">
            <a:r>
              <a:t>Fidelity Institutional, Wealth management trends for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strategy packet: Broker-Dealer Strategy Expansion Research Packet, July 2026.</a:t>
            </a:r>
          </a:p>
          <a:p xmlns:a="http://schemas.openxmlformats.org/drawingml/2006/main">
            <a:r>
              <a:t>FINRA, 2026 Annual Regulatory Oversight Report and GenAI topic page.</a:t>
            </a:r>
          </a:p>
          <a:p xmlns:a="http://schemas.openxmlformats.org/drawingml/2006/main">
            <a:r>
              <a:t>SIFMA, 2025 Capital Markets Fact Book; communications-retention comment materials.</a:t>
            </a:r>
          </a:p>
          <a:p xmlns:a="http://schemas.openxmlformats.org/drawingml/2006/main">
            <a:r>
              <a:t>J.D. Power, 2026 U.S. Financial Advisor Satisfaction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SIFMA, 2025 Capital Markets Fact Book; communications-retention comment materials.</a:t>
            </a:r>
          </a:p>
          <a:p xmlns:a="http://schemas.openxmlformats.org/drawingml/2006/main">
            <a:r>
              <a:t>FINRA, 2026 Annual Regulatory Oversight Report and GenAI topic page.</a:t>
            </a:r>
          </a:p>
          <a:p xmlns:a="http://schemas.openxmlformats.org/drawingml/2006/main">
            <a:r>
              <a:t>Fidelity Institutional, Wealth management trends for 2026.</a:t>
            </a:r>
          </a:p>
          <a:p xmlns:a="http://schemas.openxmlformats.org/drawingml/2006/main">
            <a:r>
              <a:t>Global Relay, Industry Insights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strategy packet: Broker-Dealer Strategy Expansion Research Packet, July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strategy packet: Broker-Dealer Strategy Expansion Research Packet, July 2026.</a:t>
            </a:r>
          </a:p>
          <a:p xmlns:a="http://schemas.openxmlformats.org/drawingml/2006/main">
            <a:r>
              <a:t>FINRA, 2026 Annual Regulatory Oversight Report and GenAI topic page.</a:t>
            </a:r>
          </a:p>
          <a:p xmlns:a="http://schemas.openxmlformats.org/drawingml/2006/main">
            <a:r>
              <a:t>Fidelity Institutional, Wealth management trends for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strategy packet: Broker-Dealer Strategy Expansion Research Packet, July 2026.</a:t>
            </a:r>
          </a:p>
          <a:p xmlns:a="http://schemas.openxmlformats.org/drawingml/2006/main">
            <a:r>
              <a:t>FINRA, 2026 Annual Regulatory Oversight Report and GenAI topic page.</a:t>
            </a:r>
          </a:p>
          <a:p xmlns:a="http://schemas.openxmlformats.org/drawingml/2006/main">
            <a:r>
              <a:t>SIFMA, 2025 Capital Markets Fact Book; communications-retention comment materials.</a:t>
            </a:r>
          </a:p>
          <a:p xmlns:a="http://schemas.openxmlformats.org/drawingml/2006/main">
            <a:r>
              <a:t>J.D. Power, 2026 U.S. Financial Advisor Satisfaction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strategy packet: Broker-Dealer Strategy Expansion Research Packet, July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strategy packet: Broker-Dealer Strategy Expansion Research Packet, July 2026.</a:t>
            </a:r>
          </a:p>
          <a:p xmlns:a="http://schemas.openxmlformats.org/drawingml/2006/main">
            <a:r>
              <a:t>Global Relay, Industry Insights 2026.</a:t>
            </a:r>
          </a:p>
          <a:p xmlns:a="http://schemas.openxmlformats.org/drawingml/2006/main">
            <a:r>
              <a:t>Envestnet, R2 2026 platform announcements.</a:t>
            </a:r>
          </a:p>
          <a:p xmlns:a="http://schemas.openxmlformats.org/drawingml/2006/main">
            <a:r>
              <a:t>Addepar wealth management and AI/data/workflow positioning.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strategy packet: Broker-Dealer Strategy Expansion Research Packet, July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FINRA, 2026 Annual Regulatory Oversight Report and GenAI topic page.</a:t>
            </a:r>
          </a:p>
          <a:p xmlns:a="http://schemas.openxmlformats.org/drawingml/2006/main">
            <a:r>
              <a:t>J.D. Power, 2026 U.S. Financial Advisor Satisfaction Study.</a:t>
            </a:r>
          </a:p>
          <a:p xmlns:a="http://schemas.openxmlformats.org/drawingml/2006/main">
            <a:r>
              <a:t>Internal strategy packet: Broker-Dealer Strategy Expansion Research Packet, July 2026.</a:t>
            </a:r>
          </a:p>
          <a:p xmlns:a="http://schemas.openxmlformats.org/drawingml/2006/main">
            <a:r>
              <a:t>Wealthscape Reporting 2.0 prototype captures, July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SIFMA, 2025 Capital Markets Fact Book; communications-retention comment materials.</a:t>
            </a:r>
          </a:p>
          <a:p xmlns:a="http://schemas.openxmlformats.org/drawingml/2006/main">
            <a:r>
              <a:t>Global Relay, Industry Insights 2026.</a:t>
            </a:r>
          </a:p>
          <a:p xmlns:a="http://schemas.openxmlformats.org/drawingml/2006/main">
            <a:r>
              <a:t>Internal strategy packet: Broker-Dealer Strategy Expansion Research Packet, July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J.D. Power, 2026 U.S. Financial Advisor Satisfaction Study.</a:t>
            </a:r>
          </a:p>
          <a:p xmlns:a="http://schemas.openxmlformats.org/drawingml/2006/main">
            <a:r>
              <a:t>Fidelity Institutional, Wealth management trends for 2026.</a:t>
            </a:r>
          </a:p>
          <a:p xmlns:a="http://schemas.openxmlformats.org/drawingml/2006/main">
            <a:r>
              <a:t>Internal strategy packet: Broker-Dealer Strategy Expansion Research Packet, July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strategy packet: Broker-Dealer Strategy Expansion Research Packet, July 2026.</a:t>
            </a:r>
          </a:p>
          <a:p xmlns:a="http://schemas.openxmlformats.org/drawingml/2006/main">
            <a:r>
              <a:t>FINRA, 2026 Annual Regulatory Oversight Report and GenAI topic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strategy packet: Broker-Dealer Strategy Expansion Research Packet, July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strategy packet: Broker-Dealer Strategy Expansion Research Packet, July 2026.</a:t>
            </a:r>
          </a:p>
          <a:p xmlns:a="http://schemas.openxmlformats.org/drawingml/2006/main">
            <a:r>
              <a:t>Internal implementation trail: Broker-dealer strategy lanes and prototype PR sequence, July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strategy packet: Broker-Dealer Strategy Expansion Research Packet, July 2026.</a:t>
            </a:r>
          </a:p>
          <a:p xmlns:a="http://schemas.openxmlformats.org/drawingml/2006/main">
            <a:r>
              <a:t>FINRA, 2026 Annual Regulatory Oversight Report and GenAI topic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Wealthscape Reporting 2.0 prototype captures, July 2026.</a:t>
            </a:r>
          </a:p>
          <a:p xmlns:a="http://schemas.openxmlformats.org/drawingml/2006/main">
            <a:r>
              <a:t>Internal strategy packet: Broker-Dealer Strategy Expansion Research Packet, July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FINRA 2026 Annual Regulatory Oversight Report: https://www.finra.org/rules-guidance/guidance/reports/2026-finra-annual-regulatory-oversight-report</a:t>
            </a:r>
          </a:p>
          <a:p xmlns:a="http://schemas.openxmlformats.org/drawingml/2006/main">
            <a:r>
              <a:t>FINRA GenAI topic page: https://www.finra.org/rules-guidance/guidance/reports/2026-finra-annual-regulatory-oversight-report/gen-ai</a:t>
            </a:r>
          </a:p>
          <a:p xmlns:a="http://schemas.openxmlformats.org/drawingml/2006/main">
            <a:r>
              <a:t>SIFMA 2025 Capital Markets Fact Book: https://www.sifma.org/research/statistics/fact-book</a:t>
            </a:r>
          </a:p>
          <a:p xmlns:a="http://schemas.openxmlformats.org/drawingml/2006/main">
            <a:r>
              <a:t>J.D. Power 2026 U.S. Financial Advisor Satisfaction Study: https://www.jdpower.com/business/press-releases/2026-u-s-financial-advisor-satisfaction-study/</a:t>
            </a:r>
          </a:p>
          <a:p xmlns:a="http://schemas.openxmlformats.org/drawingml/2006/main">
            <a:r>
              <a:t>Global Relay Industry Insights 2026: https://www.globalrelay.com/resources/guides-reports/industry-insights-2026/</a:t>
            </a:r>
          </a:p>
          <a:p xmlns:a="http://schemas.openxmlformats.org/drawingml/2006/main">
            <a:r>
              <a:t>Fidelity Institutional wealth management trends for 2026: https://clearingcustody.fidelity.com/insights/topics/running-your-business/wealth-management-trends-for-2026</a:t>
            </a:r>
          </a:p>
          <a:p xmlns:a="http://schemas.openxmlformats.org/drawingml/2006/main">
            <a:r>
              <a:t>Envestnet R2 2026 platform announcement: https://newsroom.envestnet.com/2026-05-19-LIVE-FROM-ELEVATE-2026-Envestnet-Unveils-AI-Driven-Enhancements-and-Accelerates-Financial-Planning-Integration-for-Advisors-on-its-Wealth-Management-Platform</a:t>
            </a:r>
          </a:p>
          <a:p xmlns:a="http://schemas.openxmlformats.org/drawingml/2006/main">
            <a:r>
              <a:t>Envestnet AI explainability announcement: https://newsroom.envestnet.com/2026-05-19-Envestnet-Enhances-Wealth-Data-Platform-with-New-AI-Explainability%2C-Workflow-Explainability%2C-and-Advisor-Decisioning-Capabilities-at-Elevate-2026</a:t>
            </a:r>
          </a:p>
          <a:p xmlns:a="http://schemas.openxmlformats.org/drawingml/2006/main">
            <a:r>
              <a:t>Addepar for Wealth Management: https://addepar.com/wealth-management</a:t>
            </a:r>
          </a:p>
          <a:p xmlns:a="http://schemas.openxmlformats.org/drawingml/2006/main">
            <a:r>
              <a:t>Addepar AI/data/workflow positioning: https://www.prnewswire.com/news-releases/addepar-advances-its-ai-innovation-across-agents-data-and-workflow-capabilities-302779567.html</a:t>
            </a:r>
          </a:p>
          <a:p xmlns:a="http://schemas.openxmlformats.org/drawingml/2006/main">
            <a:r>
              <a:t>Internal strategy packet: Broker-Dealer Strategy Expansion Research Packet, July 2026.</a:t>
            </a:r>
          </a:p>
          <a:p xmlns:a="http://schemas.openxmlformats.org/drawingml/2006/main">
            <a:r>
              <a:t>Internal implementation trail: Broker-dealer strategy lanes and prototype PR sequence, July 2026.</a:t>
            </a:r>
          </a:p>
          <a:p xmlns:a="http://schemas.openxmlformats.org/drawingml/2006/main">
            <a:r>
              <a:t>Wealthscape Reporting 2.0 prototype captures, July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b484ef091c43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cd2b0aab694bf2" /><Relationship Type="http://schemas.openxmlformats.org/officeDocument/2006/relationships/slideLayout" Target="/ppt/slideLayouts/slideLayout1.xml" Id="R094f08a0f6cd4d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4f08a0f6cd4d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c2c54ed374674" /><Relationship Type="http://schemas.openxmlformats.org/officeDocument/2006/relationships/notesSlide" Target="/ppt/notesSlides/notesSlide1.xml" Id="Rb1bd340e02d240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3cc549545417a" /><Relationship Type="http://schemas.openxmlformats.org/officeDocument/2006/relationships/notesSlide" Target="/ppt/notesSlides/notesSlide2.xml" Id="Ra777b5c038df4d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4b02fecf14e2a" /><Relationship Type="http://schemas.openxmlformats.org/officeDocument/2006/relationships/notesSlide" Target="/ppt/notesSlides/notesSlide3.xml" Id="R6efa81e36bee45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60c55a0474426" /><Relationship Type="http://schemas.openxmlformats.org/officeDocument/2006/relationships/notesSlide" Target="/ppt/notesSlides/notesSlide4.xml" Id="Rf9b597ce890741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351a2bf334943" /><Relationship Type="http://schemas.openxmlformats.org/officeDocument/2006/relationships/notesSlide" Target="/ppt/notesSlides/notesSlide5.xml" Id="R378522f57bc142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ec8bd43e54cdc" /><Relationship Type="http://schemas.openxmlformats.org/officeDocument/2006/relationships/notesSlide" Target="/ppt/notesSlides/notesSlide6.xml" Id="R855c5934540c42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fd10ea3f84c51" /><Relationship Type="http://schemas.openxmlformats.org/officeDocument/2006/relationships/notesSlide" Target="/ppt/notesSlides/notesSlide7.xml" Id="R4050dfeb8aed4b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5196ab9ae4345" /><Relationship Type="http://schemas.openxmlformats.org/officeDocument/2006/relationships/notesSlide" Target="/ppt/notesSlides/notesSlide8.xml" Id="Ra7238f4353a643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645106eb4417c" /><Relationship Type="http://schemas.openxmlformats.org/officeDocument/2006/relationships/notesSlide" Target="/ppt/notesSlides/notesSlide9.xml" Id="R62be7ba66b0f48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9c24f35dd47a4" /><Relationship Type="http://schemas.openxmlformats.org/officeDocument/2006/relationships/image" Target="/ppt/media/image.png" Id="R0352404b5b154121" /><Relationship Type="http://schemas.openxmlformats.org/officeDocument/2006/relationships/notesSlide" Target="/ppt/notesSlides/notesSlide10.xml" Id="R90161d7e16c84b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05468af444d09" /><Relationship Type="http://schemas.openxmlformats.org/officeDocument/2006/relationships/notesSlide" Target="/ppt/notesSlides/notesSlide11.xml" Id="Rcbc84e6f48be47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699c8f87e4497" /><Relationship Type="http://schemas.openxmlformats.org/officeDocument/2006/relationships/notesSlide" Target="/ppt/notesSlides/notesSlide12.xml" Id="R9a45c0d0d09945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85e516d8e4db6" /><Relationship Type="http://schemas.openxmlformats.org/officeDocument/2006/relationships/notesSlide" Target="/ppt/notesSlides/notesSlide13.xml" Id="Rc7396b3ca6214a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6a54f139b4670" /><Relationship Type="http://schemas.openxmlformats.org/officeDocument/2006/relationships/notesSlide" Target="/ppt/notesSlides/notesSlide14.xml" Id="R682fd1e988b54b4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9c3681fd64bea" /><Relationship Type="http://schemas.openxmlformats.org/officeDocument/2006/relationships/notesSlide" Target="/ppt/notesSlides/notesSlide15.xml" Id="R7eb2fd728f2b42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6257d376a44ba" /><Relationship Type="http://schemas.openxmlformats.org/officeDocument/2006/relationships/notesSlide" Target="/ppt/notesSlides/notesSlide16.xml" Id="R14ab7f26d1ed436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bfeb6e770417c" /><Relationship Type="http://schemas.openxmlformats.org/officeDocument/2006/relationships/image" Target="/ppt/media/image2.png" Id="R3e8c7bb8dc784d07" /><Relationship Type="http://schemas.openxmlformats.org/officeDocument/2006/relationships/image" Target="/ppt/media/image3.png" Id="R6215673f845f4dfc" /><Relationship Type="http://schemas.openxmlformats.org/officeDocument/2006/relationships/image" Target="/ppt/media/image4.png" Id="R3327a119003949f9" /><Relationship Type="http://schemas.openxmlformats.org/officeDocument/2006/relationships/notesSlide" Target="/ppt/notesSlides/notesSlide17.xml" Id="Rfa79fefc080648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54068b5fd470b" /><Relationship Type="http://schemas.openxmlformats.org/officeDocument/2006/relationships/notesSlide" Target="/ppt/notesSlides/notesSlide18.xml" Id="Rd560905a0b6a4a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04ED1E-D8BC-4516-8ECE-7C154586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F09C0-3CE9-4636-8742-4CC90925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6F4EA-57F6-4FE2-A86B-9F299E2E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AA053-866A-45A1-9F14-56446398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58174-EC28-4868-BF5F-04468765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ECF9E-A6B5-4053-9360-19F7ED1D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32570-3B29-40C8-B594-96BE424A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95841-3A58-4735-8E57-6E613A84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7876C-ED16-4BB7-BE92-FC931C48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55B6A-ED90-4731-AEAA-B3C2EDCB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7D0E1-2751-44EE-95AF-7784F359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1B189-9EC8-47B5-A536-8FA7F4F9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A6313-03D9-4139-9CD2-A8B6B387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EF461-2251-4D6A-B3D4-3E596FC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137C4-7EE4-469D-8FDC-E3FD558F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24026-4631-4003-8C0A-D032FFA9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572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65A4D-F08A-4E7B-99B9-261C15C6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811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DF600-B6CA-40FD-984E-1966789B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4E95D-2A76-4E40-AFEF-A6BFB370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288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4A61A0-0D5A-4D22-BB6C-4F5E3E7D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31BA0-C0B3-43BF-B213-9225AA0B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5E0ED0-E26B-4D6A-9E34-DD51E9EA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C393F0-E439-49C0-BBED-41684227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242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5CA247-7387-4D96-9BF5-60D8698F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D84284-D7F8-4A5E-B217-882527F8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4FCE3E-0528-459C-9256-AC7443E2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7F7363-3111-4E16-BFCF-B1259607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96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BC2278-D360-4986-91E3-95CB60E5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3878EE-11A8-4FA7-8189-8520990D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673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C8ED54-53D0-43C3-B9C4-1BC83E67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EAD4A4-09C5-4B74-9CBB-22187200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3FBAA5-DD17-45FC-ABA3-41BD480B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388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CF3F44-5397-48C5-B4FE-B5367084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048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1D04B6-AB9B-4ECA-9369-0C3A5453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850881-A329-4356-B6B4-DB4E7FBE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A3D"/>
                </a:solidFill>
              </a:defRPr>
            </a:pPr>
            <a:r>
              <a:rPr sz="1125" b="1">
                <a:solidFill>
                  <a:srgbClr val="007A3D"/>
                </a:solidFill>
              </a:rPr>
              <a:t>WEALTHSCAPE REPORTING 2.0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0ED2B0-2455-445E-A7DE-36D54096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781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125" b="1">
                <a:solidFill>
                  <a:srgbClr val="111827"/>
                </a:solidFill>
              </a:defRPr>
            </a:pPr>
            <a:r>
              <a:rPr sz="4125" b="1">
                <a:solidFill>
                  <a:srgbClr val="111827"/>
                </a:solidFill>
              </a:rPr>
              <a:t>Strategic recommendation for broker-dealer operating intelligence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F85FE0-9F78-49CD-A49F-440BFF0F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9677A"/>
                </a:solidFill>
              </a:defRPr>
            </a:pPr>
            <a:r>
              <a:rPr sz="1725" b="0">
                <a:solidFill>
                  <a:srgbClr val="59677A"/>
                </a:solidFill>
              </a:rPr>
              <a:t>A recommended path to evolve reporting into governed advisor productivity, supervision evidence, AI accountability, and retention insight.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ACFF1B-FFFA-43A6-AAEB-0F515898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2705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458EA9-DF3D-4B46-B190-C0DCCE3B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433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A3D"/>
                </a:solidFill>
              </a:defRPr>
            </a:pPr>
            <a:r>
              <a:rPr sz="1125" b="1">
                <a:solidFill>
                  <a:srgbClr val="007A3D"/>
                </a:solidFill>
              </a:rPr>
              <a:t>Deliverable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B909EA-39EE-4069-9642-B21AC78D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48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Strategy and implementation path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4BE564-2956-4EA0-9418-33E326E3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274916-989F-4D4C-B9C8-67A1B832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Evidence: strategy packet; public market sources; prototype captures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35683A-7513-46E2-B4FA-D8B50430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7517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767074-DE5E-4196-97BA-BC7231FD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A3D"/>
                </a:solidFill>
              </a:defRPr>
            </a:pPr>
            <a:r>
              <a:rPr sz="1125" b="1">
                <a:solidFill>
                  <a:srgbClr val="007A3D"/>
                </a:solidFill>
              </a:rPr>
              <a:t>WEALTHSCAPE REPORTING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94321-DAD7-4193-9843-4B7C2AA8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7F412-A100-4203-B607-64921E70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Evidence: strategy packet; FINRA; SIFMA; J.D. Power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DFD69-42D1-4D15-87A5-FEC6D8EE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7FCD1-551D-41D6-913A-34D2CBE0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80BE5-8EED-49F7-90C9-745656BE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7FAB4-5BD8-47F2-BF90-20BF0DBD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0D5EC-B9A5-4CA2-998E-6533B364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D9E25-C91A-4924-8F82-55A116E8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73904-C61D-481C-9023-BB613EA8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8364E-DDC1-4A61-AC8C-1A8C9F01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058A6-8450-4475-A203-81F707AF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F5789-BEF8-4B40-A501-F8FCC4A9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3C593-6D55-4820-8518-4C94AC66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2757A-4DCA-4A46-BA10-14D03D83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14667-884A-4EAC-ACAF-E0AAC331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49AF5-70A2-4106-B617-18B8FE83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54B8C-0224-4D96-B777-EC3E36C6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1793E-CEAC-4785-83FC-AB89A852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C5520E-2E6B-4916-AD5E-EDDF5CEE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572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899ADE-0726-403C-A057-2916CEF5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811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3D5AD8-6A39-42D0-B02E-0B9CD4C0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120937-EEEA-429A-8BDF-752EE739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288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ED3E0-E243-403B-98ED-74EE333D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2F458A-BE0B-401E-B4DE-C4E54AFE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6AF791-D60D-4B3C-BB9B-0249DCB7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4BB553-FEAB-490A-A34D-18F0CBC5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242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B95755-4F4D-411F-BF89-69755929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FD9811-CB4E-4CB5-AFA0-5BCC8FBD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4C7542-1E36-4056-938D-C72C49C3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1A4CAF-A812-45B0-9348-CBBAB837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96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1CD7E1-AC4E-4F6B-A067-467FC4B3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692E6A-CD73-4B7B-8EF9-B14C2C3E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673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A91981-B397-4A93-AF92-D94EBE2F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2B9CDB-16AA-49FD-B2CF-06A8DF81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4AC7DE-D3D9-460B-BA2B-C040CF33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388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1F6FD4-4F82-46EB-9386-2F2E038F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048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DDC627-9E47-453E-BE51-27CB423B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Make Wealthscape the broker-dealer operating intelligence layer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180D1E-0A06-48AA-A4D1-9D753D4B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09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59677A"/>
                </a:solidFill>
              </a:defRPr>
            </a:pPr>
            <a:r>
              <a:rPr sz="1650" b="0">
                <a:solidFill>
                  <a:srgbClr val="59677A"/>
                </a:solidFill>
              </a:rPr>
              <a:t>Reporting becomes more valuable when it helps leaders govern risk, prove AI use, improve advisor productivity, and protect platform retention.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242BF0-71B0-4398-9507-C1B15D45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9909DF-B9AC-4F9F-9AE4-9A23FDDB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283600-83A0-4A9F-BBC2-FDE1DD87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Govern risk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8C4248-7158-483E-8B90-0453400D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Prioritize supervision, communications, product, and branch issues by operating impact.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2CEED9-C0A3-4BAF-A1FE-44587BD1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3855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A9BDDC-6A5E-4062-AA1F-E911D82C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385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061FB4-663D-43E5-B591-F66F17B5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671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Prove AI use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EC74F5-5FFD-408E-80E3-FB9316C2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3243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Attach policy status, source data, model context, review, and retention rationale.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CC8393-2E16-4FC2-9500-4DFA18E2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465905-3840-49D9-9F6D-2695BFE7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9D7360-12C8-445E-81F9-BD911212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Lift productivity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D75546-C21A-4EBA-A75D-3A743766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243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Connect usage, blockers, support load, and next actions to daily advisor work.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7B5000-395C-4FF6-A5BE-6C7ABF45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3855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F89621-E676-4C7B-9088-FD40A4EC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385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47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EAD92B-E996-4D2A-8BFD-1F886610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671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Protect retention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DE371E-0289-48B8-875F-69D5E220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243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Spot field friction before it becomes advisor movement or platform bypass.</a:t>
            </a:r>
          </a:p>
        </p:txBody>
      </p:sp>
    </p:spTree>
    <p:extLst>
      <p:ext uri="{BB962C8B-B14F-4D97-AF65-F5344CB8AC3E}">
        <p14:creationId xmlns:p14="http://schemas.microsoft.com/office/powerpoint/2010/main" val="19637794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881591-40F7-47AA-B8D0-79FD24F0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A3D"/>
                </a:solidFill>
              </a:defRPr>
            </a:pPr>
            <a:r>
              <a:rPr sz="1125" b="1">
                <a:solidFill>
                  <a:srgbClr val="007A3D"/>
                </a:solidFill>
              </a:rPr>
              <a:t>WEALTHSCAPE REPORTING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400CF-458D-413D-8E28-F7B00B56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F854A-F30A-48B3-A9F1-F6AD244D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Evidence: SIFMA; FINRA; Fidelity; Global Relay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215A5-D92B-4F0D-9010-AA5E1953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3A291-F268-449E-8D63-CB16E00A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Market pressure has moved reporting from output to operating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03EF3-E8C0-4787-AA85-E3911FCD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59677A"/>
                </a:solidFill>
              </a:defRPr>
            </a:pPr>
            <a:r>
              <a:rPr sz="1650" b="0">
                <a:solidFill>
                  <a:srgbClr val="59677A"/>
                </a:solidFill>
              </a:rPr>
              <a:t>Fewer, larger broker-dealers are absorbing more complexity while AI, communications retention, and advisor expectations are all accelerating.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F1569-6393-47E2-8C0C-F84E234C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48395-7CB8-406D-934E-5263297C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147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Broker-dealer scale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BE20E-F9E0-4FBC-9B17-6F0C5A94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3,249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3D5B6-56D0-48AF-9914-F4E28B5A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FINRA-registered firms in 2024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47783-4BF5-4289-8B41-4C43B9A1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5280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30890-D148-4A53-8059-1697B23A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147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BD economics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07DAB-E9F4-4B29-BEE9-BBD3DC8C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100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007A3D"/>
                </a:solidFill>
              </a:defRPr>
            </a:pPr>
            <a:r>
              <a:rPr sz="2400" b="1">
                <a:solidFill>
                  <a:srgbClr val="007A3D"/>
                </a:solidFill>
              </a:rPr>
              <a:t>$641B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12FE1-996E-470E-97E6-BD1E4539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gross revenues in 2024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BB0F2-45FE-4910-8132-A2CE1FCC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CC93A-C35B-405D-B60A-805371AC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147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AI adoption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F7BF0-D71C-46BC-BFA7-53BA15D4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00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B06A00"/>
                </a:solidFill>
              </a:defRPr>
            </a:pPr>
            <a:r>
              <a:rPr sz="2400" b="1">
                <a:solidFill>
                  <a:srgbClr val="B06A00"/>
                </a:solidFill>
              </a:rPr>
              <a:t>2/3+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063AED-344E-4119-88BD-E1AD49E9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wealth firms using or piloting GenAI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2BE1D-40E8-4165-9191-8EE06133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35280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A960DE-A60C-446B-82E2-DB526DE9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5147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Channel controls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C6995-39DD-4386-BC5E-FB9AC786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8100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B42318"/>
                </a:solidFill>
              </a:defRPr>
            </a:pPr>
            <a:r>
              <a:rPr sz="2400" b="1">
                <a:solidFill>
                  <a:srgbClr val="B42318"/>
                </a:solidFill>
              </a:rPr>
              <a:t>66%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1F165C-AC88-425E-BB65-EB959F8A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firms banning communications channels</a:t>
            </a:r>
          </a:p>
        </p:txBody>
      </p:sp>
    </p:spTree>
    <p:extLst>
      <p:ext uri="{BB962C8B-B14F-4D97-AF65-F5344CB8AC3E}">
        <p14:creationId xmlns:p14="http://schemas.microsoft.com/office/powerpoint/2010/main" val="8509116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F6113E-2EFA-48A4-8BA4-B29EB065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E4ADE-2950-4C57-AA79-467E4068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CB2D8-7DA7-47E2-BCD6-A873339A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080FD-AA92-4DB6-AB1C-36E89F57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DE8B6-2754-497E-9FFB-ED6FCDC2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7EF26-A9BB-4709-B41C-3658244A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F1621-24E5-4FF8-9818-E0F5ADEA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0AB28-D1B7-43C4-8749-1CEA3B8D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5693C-30D8-4D15-819E-684A92B7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E34C5-82BA-4456-8A4E-0FCC6471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59F44-677C-4940-93E2-76E1CCF9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E74C8-F95D-45B4-A3A1-E72166E3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8E1B8-3C1D-414D-A154-2BD769DB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C5BDC-04C2-49F5-B363-229EAA03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EBDBA-D48B-47D8-9FDC-A5BB474D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3455F-323B-4A89-8BCB-5D3CB27F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572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41AA7-7B2B-466C-B411-E887C91A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811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87878-8FDC-41A6-87DD-D725DADA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FCDD6-6971-4CA8-9256-8093E949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288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C768F-6859-4C4D-B434-66DD5EF1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B68782-2B5E-4638-B028-FFEC86FB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6729F-372D-4343-88A4-6398182C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D91A7F-6E62-48BC-A5C6-A4B63E9B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242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FC11A4-FC17-408A-9EAD-5D77564B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B276E1-1964-424F-9111-59A7993A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B9DB0A-D165-4122-BFAC-9D64C70D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835D3B-9191-4047-AD6D-CC37392E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96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1569C0-0332-4C96-95C2-87070354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DF0F8B-BF53-4206-BEF0-84AF8A03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673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D1EA4F-9865-4C8B-9E61-06BE2DC8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5C83B5-3188-4E30-8CEC-05C5BE3E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8800B3-B52D-467C-9AE4-1601CA69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388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AEB5DA-2EAF-452C-AE13-26024A4C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048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1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9A1762-548A-4B10-8E43-22E196C7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F48E70-9765-426E-B9E9-529EA0A8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1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7A3D"/>
                </a:solidFill>
              </a:defRPr>
            </a:pPr>
            <a:r>
              <a:rPr sz="1200" b="1">
                <a:solidFill>
                  <a:srgbClr val="007A3D"/>
                </a:solidFill>
              </a:rPr>
              <a:t>01 / Strategic Mandate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BFEFDA-E95B-4B20-9A40-A238CB98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790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Wealthscape should become a governed operating system for broker-dealers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F44E55-5079-4120-A79C-A1822DB1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D6E1EA"/>
                </a:solidFill>
              </a:defRPr>
            </a:pPr>
            <a:r>
              <a:rPr sz="1725" b="0">
                <a:solidFill>
                  <a:srgbClr val="D6E1EA"/>
                </a:solidFill>
              </a:rPr>
              <a:t>The strategic question is not whether the prototype works. It is what Fidelity should build, wrap, partner for, and measure.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7987B2-A869-406D-A58C-3157DBCE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06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3BD52D-CB24-4A36-8128-01B3A91E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BFCBD6"/>
                </a:solidFill>
              </a:defRPr>
            </a:pPr>
            <a:r>
              <a:rPr sz="1050" b="0">
                <a:solidFill>
                  <a:srgbClr val="BFCBD6"/>
                </a:solidFill>
              </a:rPr>
              <a:t>Evidence: strategy packet; public source synthesis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5944A3-7FBA-4ED0-BAFF-333A6AFA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BFCBD6"/>
                </a:solidFill>
              </a:defRPr>
            </a:pPr>
            <a:r>
              <a:rPr sz="1050" b="1">
                <a:solidFill>
                  <a:srgbClr val="BFCBD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02665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C610B7-4A12-4635-89A2-4921D8AA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A3D"/>
                </a:solidFill>
              </a:defRPr>
            </a:pPr>
            <a:r>
              <a:rPr sz="1125" b="1">
                <a:solidFill>
                  <a:srgbClr val="007A3D"/>
                </a:solidFill>
              </a:rPr>
              <a:t>WEALTHSCAPE REPORTING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6BDAC-A02A-441B-BE4B-67D1FF05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3A545-9906-49E6-BBB0-AD0F6895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Evidence: strategy packet; FINRA GenAI; Fidelity trends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45610-A207-4FD0-9363-4D360AB2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FDD69-B9EA-4E45-9491-551FE673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37A8F-D20D-4A86-A9D2-0DB7C33B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F8E5E-5B9A-4B68-9DF8-858844FA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CCB7F-884F-4F9F-BF37-36CFD16A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12EC6-6238-4412-9779-8A877CE4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D47C9-7309-413D-A034-7DCAB3B1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EA85E-0D21-44EF-9001-881A5B2A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7F053-7454-4279-BF72-0375CDA2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A9EAD4-8B4C-435D-A7B1-6D1D466D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A5DA2-59D6-44F2-892C-0BE51FA6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C3D05-598D-43A2-89E3-4300141F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92598-C05F-4B14-BA1F-7E0FE0B2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44D4C-3036-4BC3-B4A2-5A5DE777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D08BA-8D88-428E-A8FA-AE364E4D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9CD9ED-3CF2-4435-80EE-09A8AA6F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62EA5-DF10-442A-808F-E08B6D02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572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A00E36-829E-45B3-A8B9-98776E14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811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953BD-56C3-4C2C-975A-AE7056C8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25DD6C-A779-4C41-AA1C-9D3D8D8D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288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13A94-8970-437A-90AE-06E5B3E6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87AC60-37D3-42D5-BBE8-4521A37D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314411-71A7-475D-88AE-E70042EC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BF5D5E-D2D5-448D-AE3C-BA73C305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242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899C99-BDFC-4EB7-BA41-46019494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B79F8C-2570-4DFA-8D0A-B68C1532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BFBCB2-DD05-4404-86C0-9BDBCB65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88FCF0-8603-43D8-878B-64AABA97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96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7D4BAA-6561-46BE-A630-181E8B3C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958E67-0176-4178-9B64-7655D291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673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6F1202-B372-46D4-A5A5-1DDDBF82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B70451-8605-427B-B8AE-423EDA77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FD6BD7-B35C-4232-AB29-8634328F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388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188548-0659-4642-8694-B35E93A4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048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9F327F-682D-43DE-A53F-DA3DFB6A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52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The winning position is governed productivity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034583-B416-4EE3-8F87-679FB0C3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59677A"/>
                </a:solidFill>
              </a:defRPr>
            </a:pPr>
            <a:r>
              <a:rPr sz="1650" b="0">
                <a:solidFill>
                  <a:srgbClr val="59677A"/>
                </a:solidFill>
              </a:rPr>
              <a:t>Wealthscape can differentiate by making advisor work faster only when supervision, data lineage, and client-ready evidence are visible.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08D73C-CB83-4249-A857-3D730FF6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58CD4F-A7AC-4DDE-AA3A-E42B4798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00400"/>
            <a:ext cx="8305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Do not treat AI as a side feature; make its approval and evidence trail native to reporting.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F6618F-7570-43FF-918B-72300D9A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67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D13AA8-40F8-4763-9139-6F8A0BF7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81450"/>
            <a:ext cx="8305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Do not treat supervision as a back-office console; bring review state into the advisor and branch workflow.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F42340-983C-4E5D-929B-F5780753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D6F0E2-D294-4A91-8668-AC1021AA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0"/>
            <a:ext cx="8305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Do not treat adoption as vanity analytics; use it as an early warning signal for friction and retention risk.</a:t>
            </a:r>
          </a:p>
        </p:txBody>
      </p:sp>
    </p:spTree>
    <p:extLst>
      <p:ext uri="{BB962C8B-B14F-4D97-AF65-F5344CB8AC3E}">
        <p14:creationId xmlns:p14="http://schemas.microsoft.com/office/powerpoint/2010/main" val="20877797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0E7161-43E4-4F35-A4F9-3301E5F9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A3D"/>
                </a:solidFill>
              </a:defRPr>
            </a:pPr>
            <a:r>
              <a:rPr sz="1125" b="1">
                <a:solidFill>
                  <a:srgbClr val="007A3D"/>
                </a:solidFill>
              </a:rPr>
              <a:t>WEALTHSCAPE REPORTING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BD143-ED1A-4BF9-A086-33D84C64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B6C74-0721-4A2A-8FE8-5EFABA1B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Evidence: strategy packet; FINRA; SIFMA; J.D. Power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18251-F4BE-4F98-BEE8-7AE2A176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EC86F-3AD6-435A-9213-025E1A72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85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The strategy has four priority moves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52F43-B111-45C3-BDC7-ACE142FF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59677A"/>
                </a:solidFill>
              </a:defRPr>
            </a:pPr>
            <a:r>
              <a:rPr sz="1650" b="0">
                <a:solidFill>
                  <a:srgbClr val="59677A"/>
                </a:solidFill>
              </a:rPr>
              <a:t>Each move converts a broker-dealer pain point into an implementation-ready capability with a clear ownership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9F658-9CED-438B-BBAE-D65B9FB9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Capability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BDD8F-490F-455F-8B5E-56BA7CEC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19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Operating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29FDB-856A-4516-B287-73B7B8C0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Implementation move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C0392-055B-4816-8EFD-4531101B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194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DCDFF-DE48-420F-B251-A9F2BB28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06299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8BB27-DAB4-42EC-9246-5C9C7EE3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9D272-DD8F-453F-8A8B-8D2E04DE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AI evidence ledger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D0839-2E47-4A7C-9C9D-096F6B47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7660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AI speed creates review, source, and auditability burden.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8DDE3-C679-4098-B450-99E681B8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76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Build a ledger across narratives, reports, and advisor actions.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EB2DF-DCA7-4216-8BAA-FD2AC1D7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95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7A3D"/>
                </a:solidFill>
              </a:defRPr>
            </a:pPr>
            <a:r>
              <a:rPr sz="1275" b="1">
                <a:solidFill>
                  <a:srgbClr val="007A3D"/>
                </a:solidFill>
              </a:rPr>
              <a:t>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0D38A-6CB9-43DA-B6FF-7CE88D1C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06299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24CC8E-43E3-427E-A631-F4393432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2FF70-2356-4192-BA01-B79EA231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00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Retention rationale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5DAE12-0E2D-4BCA-B6A7-0C34BC23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9097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Archive status alone does not explain what must be retained.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3016B-F810-4151-AE0A-0954D88A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909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Pair capture rails with reason codes and review state.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C11F0A-AE86-4DF7-9490-F3C40D6C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100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B06A00"/>
                </a:solidFill>
              </a:defRPr>
            </a:pPr>
            <a:r>
              <a:rPr sz="1275" b="1">
                <a:solidFill>
                  <a:srgbClr val="B06A00"/>
                </a:solidFill>
              </a:rPr>
              <a:t>Wrap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85B22F-0560-4256-BD8E-62D073E4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06299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B6129F-4072-4A44-BF77-678C09D7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F53690-3F05-4321-88EA-2E9BEF5B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Advisor telemetry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7F514F-EA3D-479D-BA46-5B2F2D32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053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Field friction appears too late in support and attrition signals.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E72C34-5E1A-45C6-87D8-BFA024D8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05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Instrument usage, blocker, training, AI quality, and exceptions.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B7636D-AE7A-4D83-AB48-CD1E7773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24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7A3D"/>
                </a:solidFill>
              </a:defRPr>
            </a:pPr>
            <a:r>
              <a:rPr sz="1275" b="1">
                <a:solidFill>
                  <a:srgbClr val="007A3D"/>
                </a:solidFill>
              </a:rPr>
              <a:t>Build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A3618A-6B10-4C57-AD57-3618B501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106299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63FF74-0E0A-45FC-8D0F-C1D5FC22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A7C81B-54FD-4922-AF60-85299C42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387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Team workbench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68BA23-4CD2-46FA-B740-4FC60853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1972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Branch and hybrid teams lose owner and escalation context.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8003EA-CAC7-4D0F-B952-F3FD5ACD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4197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Route exceptions by client impact, role, aging, and evidence.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83EFC4-77B7-4E87-ABE5-F1AF403F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4387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7A3D"/>
                </a:solidFill>
              </a:defRPr>
            </a:pPr>
            <a:r>
              <a:rPr sz="1275" b="1">
                <a:solidFill>
                  <a:srgbClr val="007A3D"/>
                </a:solidFill>
              </a:rPr>
              <a:t>Build</a:t>
            </a:r>
          </a:p>
        </p:txBody>
      </p:sp>
    </p:spTree>
    <p:extLst>
      <p:ext uri="{BB962C8B-B14F-4D97-AF65-F5344CB8AC3E}">
        <p14:creationId xmlns:p14="http://schemas.microsoft.com/office/powerpoint/2010/main" val="12215501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EAE22-D1CC-4815-B2C2-3AF072F7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A3D"/>
                </a:solidFill>
              </a:defRPr>
            </a:pPr>
            <a:r>
              <a:rPr sz="1125" b="1">
                <a:solidFill>
                  <a:srgbClr val="007A3D"/>
                </a:solidFill>
              </a:rPr>
              <a:t>WEALTHSCAPE REPORTING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0A445-571E-4260-8E32-6A1AA02D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9D711-7083-44E3-8074-D37439AD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Evidence: broker-dealer strategy packet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AAD6A-4934-4BC3-9F22-628651CC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1A81D-40EE-4F41-8BFD-4D32FDC0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52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Profiles define operating requirements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135FC-DABB-4C72-B40A-CB78D95E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09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59677A"/>
                </a:solidFill>
              </a:defRPr>
            </a:pPr>
            <a:r>
              <a:rPr sz="1650" b="0">
                <a:solidFill>
                  <a:srgbClr val="59677A"/>
                </a:solidFill>
              </a:rPr>
              <a:t>Home office, OSJ, and hybrid advisor teams define the control points Wealthscape must connect.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57F20-4073-49E2-B025-F3957D82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30480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21733-DDAC-48AE-BF75-986DB3CE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C6A25-1268-49D8-9989-2DE5E100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Home office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6FA56-6B73-4D32-B5AA-395F86A5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Enterprise prioritization across risk, AI policy, platform adoption, support load, revenue impact, and advisor retention.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58095-1959-4F4B-8527-E55368DB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30480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1C3CB-64D5-4D00-925B-453DC384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666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8FC1F-CDBE-4BAC-BE00-1A8B607A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766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OSJ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832B6-BEB9-4DE5-881A-04853B17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3380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Local exception triage, coaching, escalation packet quality, and evidence completion across branch reps.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87BC2-1B98-4738-928B-E1F8DF1B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30480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C6F02F-186F-4587-8752-726495B3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666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47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AF798-1066-4630-9920-9A5A73AD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766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Hybrid advisor team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4CE82-2D54-4B94-8379-EFE6CC81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3380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Client-ready reporting across brokerage, advisory, planning, suitability, disclosures, and team ownership.</a:t>
            </a:r>
          </a:p>
        </p:txBody>
      </p:sp>
    </p:spTree>
    <p:extLst>
      <p:ext uri="{BB962C8B-B14F-4D97-AF65-F5344CB8AC3E}">
        <p14:creationId xmlns:p14="http://schemas.microsoft.com/office/powerpoint/2010/main" val="4985823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5BBEE8D-58E0-4DA5-9EEB-FACE8A87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A3D"/>
                </a:solidFill>
              </a:defRPr>
            </a:pPr>
            <a:r>
              <a:rPr sz="1125" b="1">
                <a:solidFill>
                  <a:srgbClr val="007A3D"/>
                </a:solidFill>
              </a:rPr>
              <a:t>WEALTHSCAPE REPORTING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891B6-8E3E-46CF-9300-267362DB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2404C-5D1A-4614-8283-C2E91A18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Evidence: capability matrix; vendor public positioning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0F4EA-9FB0-4A2A-9B2C-C3E28E2A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59677-AF10-4AA6-8E57-A061B80C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C4CD8-D778-4293-8C73-84194D4C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0FF70-FA36-4D35-9366-EE250A64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E60C1-230A-4F99-B10C-2C7E8B49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12705-C477-430F-9FA4-EECCF8B5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CAF46-3303-4085-88F3-C1B12657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63879-6230-487E-A3B0-147C8475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3F45D-6377-4F68-8E67-840D95F1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F89CC-FBC6-4A24-B121-4F923CE3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54529-DFE9-47A4-A6B4-1967FD2C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3DE37-A738-44C1-ACB7-B3220D2D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7D02A5-6926-4BBC-B200-55E4B36D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7DAEE-78A4-434A-8E21-52C6A739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692442-C0B1-478F-9606-5E32DE49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FE129-9E78-444F-9DA8-4A1B09FE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69267D-FC75-4540-808D-6D691942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572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04610-F6A2-42C9-92CB-C54B81DF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811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9C5F78-B6AA-4E4E-857B-4361F3A2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25355A-DB24-4B2E-B250-05B88B4D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288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75E02D-18CB-4D32-BD0C-7700C536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9C3702-165D-46FB-86E3-F59158E9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330B5B-F853-4B16-8A5B-96DA7D99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59305E-FC98-4BC9-9992-9BB48DB2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242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FAC594-EF0F-4790-9387-95E0F619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01CF0C-CEC9-4717-8E32-1F0C42D7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0F5A0D-F87A-47E1-B5F4-07E895A9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95A5DC-98C7-4873-8313-9C59C558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96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01C571-E379-4477-9A43-A71A8E84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5C52A0-DB23-4503-B773-AF29DCC2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673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4C3F59-3810-4F2D-A695-1088324B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A97432-6A8A-448E-BD5F-84B1D27F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6834C3-BEDC-4D7D-A60A-8D2A3F0E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388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9464DA-8320-466A-A002-7EB4B9D5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048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FA8AEE-E696-4227-B887-A3564D80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52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Build, wrap, and partner decisions should preserve Fidelity's control points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2C3ACD-B179-4187-8B6F-E7AA610A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59677A"/>
                </a:solidFill>
              </a:defRPr>
            </a:pPr>
            <a:r>
              <a:rPr sz="1650" b="0">
                <a:solidFill>
                  <a:srgbClr val="59677A"/>
                </a:solidFill>
              </a:rPr>
              <a:t>The strategy is to own workflow intelligence while using mature rails where the market already has regulated infrastructure.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3C3CAA-4852-4142-A4C6-B346AB5E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857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331C1B-6975-476D-9D86-5DB5D96F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7A2707-F633-4370-A2BB-FD891FC2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Build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669748-F9EC-474E-AE96-244FFE8D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2400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Advisor telemetry, branch workbench, evidence ledger, and prioritization model.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F0D746-AE06-4006-A0B1-3EEFC68C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2857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7BBE05-713E-4853-8308-D888EFC2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7B552D-87AA-4AE1-92EA-67CCE27D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3375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Wrap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E0F07E-9649-4A58-9F71-1E395C11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90950"/>
            <a:ext cx="2400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Brokerage/advisory data, planning context, AI governance controls, and suitability state.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A7D229-B19B-4C3C-96FE-3D0CA4D9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2857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56DC81-5C20-4A12-B505-50CCC177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0FB800-203B-45AC-93B5-7C8D4226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3375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Partner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822CDD-0F2D-48A0-96C7-FA16136A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90950"/>
            <a:ext cx="2400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Communications capture, archive, surveillance, legal hold, and specialist vendor-risk monitoring.</a:t>
            </a:r>
          </a:p>
        </p:txBody>
      </p:sp>
    </p:spTree>
    <p:extLst>
      <p:ext uri="{BB962C8B-B14F-4D97-AF65-F5344CB8AC3E}">
        <p14:creationId xmlns:p14="http://schemas.microsoft.com/office/powerpoint/2010/main" val="19347802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35F7AA-5354-4FC8-93D1-EEC83A43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71643-7F9A-4052-9A03-DFF3860D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37BC6-5EC9-456D-9B19-44A148A5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3D3CA-0E1B-4E94-B90D-6067E344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8B95D-3188-4361-8D2C-E8B2605E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9EA50-DFD2-4783-87B8-05371985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2FC49-3C9E-4BC1-BDCD-942616FB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9A23F-4BB5-474B-9F04-6CF9D26C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BA14A-2770-4822-BA3C-FD185C58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7F6FD-BD95-4E5A-A66D-223E06CF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998ED-A21C-47AF-BE93-355CD47E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D8FE7-87AE-47FE-9DC8-419E5D19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420CA-4768-42A6-914A-4D4C1974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FE3CF-91C2-4E26-8980-B0C42616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2E75D-6962-449C-873F-9A2E9119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87CDC-B49C-4BA9-BAFC-D6294732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572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597DAB-F240-4876-8C38-DBD688CB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811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F104E3-0EED-4BF0-9F4C-D0C5FDE5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69E2C-09A2-4EB1-A748-8AF74C3E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288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25D2C-53CC-4115-88D2-82BC770F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372F3-F1B8-4B4B-AA0D-67D73A87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2FDC22-7549-4637-BE5F-CD098166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3A6D72-9FE1-495F-B969-F93E06AE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242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72F536-0EF7-4711-8437-263AEAB7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E798EC-F58C-4447-8154-6C25F9D9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721C4A-D9E8-4A32-91F4-3A1E500C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43E997-37AF-471F-BBF0-661175EF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96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4AB768-D108-4F27-A977-B89D1219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9CE253-5C09-41E8-AF65-874107E5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673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DC662C-806A-4FFF-BA84-52C96066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D72CAF-3D67-4AFD-854E-16D69635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FF6645-78D0-4229-B4B5-6B41DB18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388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AE8051-9046-4648-A2E7-3A8F97EC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048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1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0E36FC-E25A-47F5-9A79-0968B73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108C94-E657-4C26-9873-78F5FC8E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1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7A3D"/>
                </a:solidFill>
              </a:defRPr>
            </a:pPr>
            <a:r>
              <a:rPr sz="1200" b="1">
                <a:solidFill>
                  <a:srgbClr val="007A3D"/>
                </a:solidFill>
              </a:rPr>
              <a:t>02 / Recommendation Detail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0D0C6A-1F92-441C-B89E-525731F2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790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The strategic moves should become investment-ready workstreams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8E2EC1-667F-4404-AB4B-402CD8AD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D6E1EA"/>
                </a:solidFill>
              </a:defRPr>
            </a:pPr>
            <a:r>
              <a:rPr sz="1725" b="0">
                <a:solidFill>
                  <a:srgbClr val="D6E1EA"/>
                </a:solidFill>
              </a:rPr>
              <a:t>The next phase should fund capabilities, governance, data access, and pilot measures, not another prototype-only cycle.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2DC0B3-834B-4C5E-91CF-8D0133F1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06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4EA5F9-E7B2-4AF4-B2C5-2559BE70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BFCBD6"/>
                </a:solidFill>
              </a:defRPr>
            </a:pPr>
            <a:r>
              <a:rPr sz="1050" b="0">
                <a:solidFill>
                  <a:srgbClr val="BFCBD6"/>
                </a:solidFill>
              </a:rPr>
              <a:t>Evidence: strategy packet; public source synthesis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EB8B17-78A1-45C9-A81E-3DE9D9AB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BFCBD6"/>
                </a:solidFill>
              </a:defRPr>
            </a:pPr>
            <a:r>
              <a:rPr sz="1050" b="1">
                <a:solidFill>
                  <a:srgbClr val="BFCBD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478255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902E2C-13C4-42C5-A514-8A482546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A3D"/>
                </a:solidFill>
              </a:defRPr>
            </a:pPr>
            <a:r>
              <a:rPr sz="1125" b="1">
                <a:solidFill>
                  <a:srgbClr val="007A3D"/>
                </a:solidFill>
              </a:rPr>
              <a:t>WEALTHSCAPE REPORTING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E88B2-4697-42E3-910D-88B8AC47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3A2EA-4528-4292-BB7D-DB2FF839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Evidence: FINRA GenAI; J.D. Power; strategy packet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C28DF-331E-4276-9254-240E1450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B57FC-469F-49ED-AAF1-9C4BEC99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85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Workstream 1: AI evidence ledger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BA313-4780-45D0-B643-69BAFBF4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59677A"/>
                </a:solidFill>
              </a:defRPr>
            </a:pPr>
            <a:r>
              <a:rPr sz="1650" b="0">
                <a:solidFill>
                  <a:srgbClr val="59677A"/>
                </a:solidFill>
              </a:rPr>
              <a:t>Make every AI-assisted report, summary, proposal support action, and future agent action explainable before it becomes client-ready.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D7B7A-F9F6-4C92-BA94-9F707337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42887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06B47-C4E7-4935-AEDB-56BC73A7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666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CCC9A-94A4-4B4E-ACBA-6F070507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1971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Core capability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AA8F5-D539-4D63-873B-13E8DAB5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971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Policy status, prompt lineage, source data, model/version, reviewer, artifact state.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FCC18-279E-4012-8531-7F37B53E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242887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374CE-2A1E-4B75-8F2D-9EBF53EC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666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7D017-F7C7-49CA-A7CC-7DE6C9CD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371850"/>
            <a:ext cx="1971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Operating 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0A74B-CE0C-4C0B-A2A2-92CA04F6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29050"/>
            <a:ext cx="1971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Product, supervision, compliance, data governance, and advisor platform leadership.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28D34-36A1-4553-9D99-8F9324B4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242887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CCFD69-FB3D-4652-B515-54CD8ED6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666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47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172352-2726-4CCA-92B3-840D7C72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1850"/>
            <a:ext cx="1971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Success measure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CFA227-7F81-4E8C-A362-53759DBA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1971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Review cycle time, blocked-language rate, explainability coverage, advisor usage quality.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7B4B1-26BD-4506-9E71-7DA474F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19400"/>
            <a:ext cx="2286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2404b5b154121"/>
          <a:srcRect xmlns:a="http://schemas.openxmlformats.org/drawingml/2006/main" l="0" t="9091" r="0" b="90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01125" y="29146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A13E92-88C4-4962-8B09-BD60597A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286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Illustrative proof only: policy-aware report flow</a:t>
            </a:r>
          </a:p>
        </p:txBody>
      </p:sp>
    </p:spTree>
    <p:extLst>
      <p:ext uri="{BB962C8B-B14F-4D97-AF65-F5344CB8AC3E}">
        <p14:creationId xmlns:p14="http://schemas.microsoft.com/office/powerpoint/2010/main" val="6340364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67E4DA-4A20-4E70-89DE-000F6B6A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A3D"/>
                </a:solidFill>
              </a:defRPr>
            </a:pPr>
            <a:r>
              <a:rPr sz="1125" b="1">
                <a:solidFill>
                  <a:srgbClr val="007A3D"/>
                </a:solidFill>
              </a:rPr>
              <a:t>WEALTHSCAPE REPORTING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A9A74-C775-40C9-B404-E55AE672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7926A-7E11-4A3A-AADE-7455E687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Evidence: SIFMA retention materials; Global Relay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0AD1C-1215-4937-BB12-E8167069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79C8B-4D6A-4702-AA63-B8E5913A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52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Workstream 2: retention rationale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EF0F8-DEE8-4B8B-ADB6-1ACC53CA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59677A"/>
                </a:solidFill>
              </a:defRPr>
            </a:pPr>
            <a:r>
              <a:rPr sz="1650" b="0">
                <a:solidFill>
                  <a:srgbClr val="59677A"/>
                </a:solidFill>
              </a:rPr>
              <a:t>Move from archive visibility to decision-grade rationale: why an artifact is retained, excluded, pending review, or escalated.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C2C9E-F633-4332-AF69-52318444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30480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CD22E-8252-4B8F-BC17-BCD9275E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1FC67-35E7-4824-BC65-4854C3C1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Strategic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7ED46-ADA4-4BC8-9D5B-0876899E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259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Reduce ambiguity between client-facing evidence, operational noise, AI artifacts, and internal collaboration.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8CBD3-01E9-4B05-939A-F556EAB8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30480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D708E-85E4-4252-ACEA-3E2B85D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ABAC8-6092-4CC9-ACC5-2DAE5AB6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718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Implementation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9D603-F64F-4DD5-BB98-F91F5156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29050"/>
            <a:ext cx="259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Partner for capture and archive rails; build rationale, reason codes, workflow state, and review packet UX.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1792E-E157-46E6-BE7C-BAD6C532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26670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363FB-C1A3-4452-A68C-5B9558E3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61FCB2-22A7-488D-B09B-3981C26A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Decision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8E10F2-DBFB-4279-8D2B-200C4BC2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29050"/>
            <a:ext cx="2209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Confirm regulated-source systems, retention policies, and exception ownership model.</a:t>
            </a:r>
          </a:p>
        </p:txBody>
      </p:sp>
    </p:spTree>
    <p:extLst>
      <p:ext uri="{BB962C8B-B14F-4D97-AF65-F5344CB8AC3E}">
        <p14:creationId xmlns:p14="http://schemas.microsoft.com/office/powerpoint/2010/main" val="12193688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6CE593-2C84-45A8-AE67-C539F797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A3D"/>
                </a:solidFill>
              </a:defRPr>
            </a:pPr>
            <a:r>
              <a:rPr sz="1125" b="1">
                <a:solidFill>
                  <a:srgbClr val="007A3D"/>
                </a:solidFill>
              </a:rPr>
              <a:t>WEALTHSCAPE REPORTING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6F171-0EFF-480E-9EC5-B57E94AE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DB853-7440-4BC6-991B-AC92F445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Evidence: J.D. Power; Fidelity 2026 trends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A3080-E9F6-4DE0-A600-82AA4EF6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68D57-D310-41C5-A1FC-1EE24C99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Workstream 3: advisor productivity and retention telemetry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976B2-2BC7-445A-8F1D-5987FC11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59677A"/>
                </a:solidFill>
              </a:defRPr>
            </a:pPr>
            <a:r>
              <a:rPr sz="1650" b="0">
                <a:solidFill>
                  <a:srgbClr val="59677A"/>
                </a:solidFill>
              </a:rPr>
              <a:t>Treat platform usage, AI effectiveness, support load, blocker volume, and exception history as one management signal.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3A027-5BDD-4AB4-96CA-68517CFB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30426-41FC-4191-A6B5-FBE28BAD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051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Employee advisors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F729D-AAEB-447F-B0D6-CE9C6EB4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007A3D"/>
                </a:solidFill>
              </a:defRPr>
            </a:pPr>
            <a:r>
              <a:rPr sz="2400" b="1">
                <a:solidFill>
                  <a:srgbClr val="007A3D"/>
                </a:solidFill>
              </a:rPr>
              <a:t>632 -&gt; 781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C0247-53AD-4365-A1F2-76412A0B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satisfaction when firm AI is effective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F68BF-FA39-47EE-873F-183ACEEC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1875F-8F55-4269-B931-E4B746E0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051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Independent advisors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3D7AB-F768-4B0E-B4FE-9B2A6334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04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5847B4"/>
                </a:solidFill>
              </a:defRPr>
            </a:pPr>
            <a:r>
              <a:rPr sz="2400" b="1">
                <a:solidFill>
                  <a:srgbClr val="5847B4"/>
                </a:solidFill>
              </a:rPr>
              <a:t>688 -&gt; 826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29E7D-473F-4BCC-B952-6B56437D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00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satisfaction when firm AI is effective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44D13-D002-4312-B942-5575DB02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095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25AEF-717B-42B1-8512-FDFAEC62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38C5C-032E-4E49-B1AD-0B90A2CB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Management implication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D534DB-33AE-435B-887C-62600336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290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AI quality is not only an efficiency metric. It is a retention, training, and platform-confidence signal.</a:t>
            </a:r>
          </a:p>
        </p:txBody>
      </p:sp>
    </p:spTree>
    <p:extLst>
      <p:ext uri="{BB962C8B-B14F-4D97-AF65-F5344CB8AC3E}">
        <p14:creationId xmlns:p14="http://schemas.microsoft.com/office/powerpoint/2010/main" val="12774311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97937B-EC8B-46BA-B819-6D1EE896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A3D"/>
                </a:solidFill>
              </a:defRPr>
            </a:pPr>
            <a:r>
              <a:rPr sz="1125" b="1">
                <a:solidFill>
                  <a:srgbClr val="007A3D"/>
                </a:solidFill>
              </a:rPr>
              <a:t>WEALTHSCAPE REPORTING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504D4-AF21-408C-926D-6CC0FBBC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DB2BA-FF51-4986-B46E-44541547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Evidence: strategy packet; FINRA 2026 AOR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E5C8F-FE00-41B0-89AA-4731EA96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49822-F5EB-44C7-BC42-662607F2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Workstream 4: team-aware exception workbench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0DFAC-0A5C-41C2-BC81-E3D29192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59677A"/>
                </a:solidFill>
              </a:defRPr>
            </a:pPr>
            <a:r>
              <a:rPr sz="1650" b="0">
                <a:solidFill>
                  <a:srgbClr val="59677A"/>
                </a:solidFill>
              </a:rPr>
              <a:t>Branch and hybrid teams need routed work with evidence, aging, client impact, policy dependency, and escalation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3C300-D218-46DF-AB3E-40037386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4A71A-C6E0-4BA8-B4AA-7CF9E517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BF614-0074-4A12-8BC4-05343CCA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Triage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871D8-C990-46CF-90E8-71A5BCD0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1924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Rank by client impact, regulatory risk, aging, and dependency.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42890-4F27-4C14-9B7F-FC9FDA47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2895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B9AE9-3AB0-40B8-8A0A-E042A47B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289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4575F-6A56-41F8-AD73-3F88EC9C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575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29E07-52D0-4F4A-9C68-401E49CB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714750"/>
            <a:ext cx="1924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Identify repeated rep patterns and training needs.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D8EFB-CABE-4764-A727-FBD4213F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2895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BBA04-6255-415F-A8A6-0FD03245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289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74AA3-97FA-4C98-B434-1D860C8F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575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Escalate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00B42-2A63-4225-A9BC-51E40ACB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1924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Preserve owner, due date, source evidence, and home-office state.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0927B4-E793-47B6-BE33-976132C9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2895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4ED19-5050-4250-951E-840B0780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289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47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DD40F8-CAC2-436D-A0CB-49F8D770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2575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Close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7F2FA-B4B3-4761-9121-1137EB54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714750"/>
            <a:ext cx="1924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Retain the resolution evidence and learning signal.</a:t>
            </a:r>
          </a:p>
        </p:txBody>
      </p:sp>
    </p:spTree>
    <p:extLst>
      <p:ext uri="{BB962C8B-B14F-4D97-AF65-F5344CB8AC3E}">
        <p14:creationId xmlns:p14="http://schemas.microsoft.com/office/powerpoint/2010/main" val="3965363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A9BD64-1101-489A-BC94-99294A3A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0380C-56DC-430D-A990-838A6738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8D251-16FE-4AA0-972B-53F4B444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845FB-0525-45D2-98DD-66F65B04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33D36-13AC-41A5-A1FA-B5716421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70693-4B80-482F-AECD-62DA24A9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68608-BFE7-4D86-AD73-D76A3F1A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3CED5-0F8E-4ACB-9FA7-C59914D0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749DA-07AC-4D2A-B1E5-C74C7EAA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ACC64-8730-4CE6-B231-52248B06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12E11-CFF6-4802-8A80-0561DEF6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F3248-1AA5-45C6-ADDB-C3D2028B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4A381-199D-45BC-8A43-DA825C54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86082-1929-4E5F-B5FB-BBDCD73F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AFAED-F618-415A-AD1B-23469376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0AFFB-2B91-4925-8373-009932F8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572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6133E6-6879-4808-9971-C4256B64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811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AD5FD7-AC1D-461A-8F84-E9D2F0DA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D9FC9D-4CE8-40EE-957F-4568FCFD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288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18312-529C-42DA-BAF7-7399E4F3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911421-F57D-45B4-B233-FC02C7D0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3AE38-65BC-4475-9C8A-41B544DB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1DC2D-C8DA-438A-9A91-33CBE431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242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DEA00C-6501-4857-8932-DD783EE3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D6697F-9F1E-45F6-8147-4AE6CCEE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77464C-A7C2-49FB-BDFC-7B8F0E9E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2A8B19-8181-424B-914F-286CC5FE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96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8A47CE-8F35-4603-9462-6AC86A7D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72D048-BA4D-4FFB-8358-89518C2E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673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654A4F-32E3-4D23-89AA-A216A535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F09F39-6653-480A-9470-88A2A6CC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6A9E4F-D903-4C5A-9F37-ED8254C0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388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7405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3B1DFF-9E64-4B57-93B1-FDA62F69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048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1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4D587D-DD6F-4E0F-9045-7D4EA1B5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5FA257-7145-489F-8275-8BCD7037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1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7A3D"/>
                </a:solidFill>
              </a:defRPr>
            </a:pPr>
            <a:r>
              <a:rPr sz="1200" b="1">
                <a:solidFill>
                  <a:srgbClr val="007A3D"/>
                </a:solidFill>
              </a:rPr>
              <a:t>03 / Implementation Path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BD35B1-0103-4B3F-9699-03871AE0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790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Implementation should fund the operating model, not the artifact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69103A-868D-4636-84DA-D8BDC733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D6E1EA"/>
                </a:solidFill>
              </a:defRPr>
            </a:pPr>
            <a:r>
              <a:rPr sz="1725" b="0">
                <a:solidFill>
                  <a:srgbClr val="D6E1EA"/>
                </a:solidFill>
              </a:rPr>
              <a:t>The prototype is useful as evidence. The next investment decision should be about capability ownership, data readiness, governance, and measured pilots.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108572-3E3E-4235-9764-B9397A1B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06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B06D07-599E-4FF3-868E-0C991C31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BFCBD6"/>
                </a:solidFill>
              </a:defRPr>
            </a:pPr>
            <a:r>
              <a:rPr sz="1050" b="0">
                <a:solidFill>
                  <a:srgbClr val="BFCBD6"/>
                </a:solidFill>
              </a:rPr>
              <a:t>Evidence: strategy packet; public source synthesis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22C7BB-53BC-4FEE-A309-120A9EE8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BFCBD6"/>
                </a:solidFill>
              </a:defRPr>
            </a:pPr>
            <a:r>
              <a:rPr sz="1050" b="1">
                <a:solidFill>
                  <a:srgbClr val="BFCBD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708009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1E2160-8758-4DBF-8E1C-E304C571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A3D"/>
                </a:solidFill>
              </a:defRPr>
            </a:pPr>
            <a:r>
              <a:rPr sz="1125" b="1">
                <a:solidFill>
                  <a:srgbClr val="007A3D"/>
                </a:solidFill>
              </a:rPr>
              <a:t>WEALTHSCAPE REPORTING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E6E78-FBCB-4CD2-AC9F-C59009CB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5FD7D-B58A-43DA-9A98-8BEE2FD7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Evidence: strategy packet; implementation lane trail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A9515-D89C-44DC-8B4F-114BD0A1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23D13-A77D-47E3-AE09-2DCA14CE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90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The roadmap should sequence decision readiness before build scale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141FC-4C80-4B87-A64D-A09B3E9A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59677A"/>
                </a:solidFill>
              </a:defRPr>
            </a:pPr>
            <a:r>
              <a:rPr sz="1650" b="0">
                <a:solidFill>
                  <a:srgbClr val="59677A"/>
                </a:solidFill>
              </a:rPr>
              <a:t>Leadership should approve the capability spine, source-system access, governance rules, and pilot cohorts before broad implementation.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FB37B-F0E5-453D-80E6-0327DE36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24574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0FF45-A80C-40F5-A785-D4E6B5E0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53488-866D-44F0-BBF6-D465147A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0-30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46899-6612-4F97-A509-A9A4DC02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Decision readiness: confirm executive owner, source systems, AI governance policy, retention taxonomy, and pilot profiles.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F0055-0E38-40E6-B9E6-BA2DD76C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95650"/>
            <a:ext cx="24574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14C32-DD13-4F27-9FA1-25486968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956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1D9D5-5198-494F-8B34-BC8E2DE4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24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31-90 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A88F4-8C45-44C2-BA34-17B751DA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62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Capability foundation: build ledger schema, retention states, telemetry model, routing, and baseline measures.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4D26F1-5560-435D-98FC-A7D8EB7F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95650"/>
            <a:ext cx="24574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935773-BCA1-4343-A26E-C3E7AFE0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956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408133-97B1-4D6F-B4FF-4511A3D4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24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3-6 months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B0950-F39E-43A2-9BAB-D4F0D277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62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Pilot release: test home-office, OSJ, and hybrid advisor workflows with governed AI review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25873-1AB7-45AF-9B7A-44315DCB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95650"/>
            <a:ext cx="2190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3A2D4B-D1FD-41B5-9701-6A3AFFD9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956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47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68A74E-AD19-49E7-B67C-9249858F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242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6-12 months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6AE5A-E6C0-4918-9C31-72E1E456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62400"/>
            <a:ext cx="1733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Scale: integrate partner rails, expand data coverage, harden controls, and tie metrics to planning.</a:t>
            </a:r>
          </a:p>
        </p:txBody>
      </p:sp>
    </p:spTree>
    <p:extLst>
      <p:ext uri="{BB962C8B-B14F-4D97-AF65-F5344CB8AC3E}">
        <p14:creationId xmlns:p14="http://schemas.microsoft.com/office/powerpoint/2010/main" val="5856789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CEEEB1-C045-4ED3-8808-BE1EC03F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A3D"/>
                </a:solidFill>
              </a:defRPr>
            </a:pPr>
            <a:r>
              <a:rPr sz="1125" b="1">
                <a:solidFill>
                  <a:srgbClr val="007A3D"/>
                </a:solidFill>
              </a:rPr>
              <a:t>WEALTHSCAPE REPORTING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E14C3-477A-45A8-88E4-5E957498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4C0ED-9939-465D-AD18-64A7B863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Evidence: strategy packet; FINRA governance themes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8505E-C237-43F5-8026-BB2EEC28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1FE24-7D65-4519-8C4E-0E13B56A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2E693-2E0B-49C2-95DC-4880222B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62410-C9C2-4C59-A56D-DA4298F9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3B752-88EC-4024-A363-D4DB09C5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7ADC9-941B-4CDE-B21B-E926A72B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29CAE-20C3-4EB6-A17E-685EA03D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E129A-F660-4DDB-9754-59AC39E9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20363-79F3-44A3-81BE-7290ACCD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D0734-2985-4ACA-8C8A-33F6685F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B0F93-7E00-4E46-B7AD-1829435B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3AC348-BB67-432E-A21C-8708ABD5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EAD0A1-4354-4267-B881-3D326B67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9A059D-6573-479B-8B91-3042DE96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C8AF0-4B22-498D-AF21-F4B86647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BF3BAE-D032-47B5-A0EA-822A04E2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118BA-EE35-4B74-8472-A3D402DF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572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F08D3-CDA6-425F-A6AE-77690277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811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612C7-1B0D-439B-AD96-9B0C5B09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F97187-F83A-4314-9F78-DDA6AAAC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288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767795-0738-4C1C-9F83-A6B2735D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F66220-9675-4383-9AA6-320129B0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2DDC13-B1AF-4AF9-8F03-444DA519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B66CF5-5C2D-4040-995F-B1CD2632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242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F9C396-0522-4D59-8FCB-F8F8CA2A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FFB2EF-FCB1-44AC-A746-A9D620F9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9ECE09-3401-4622-8D33-25EDE8D7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D8E829-CEE9-4E5B-9777-B4C50CED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96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1EBC6D-BEDC-488F-975E-F0A08AC6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E31208-63F0-44BC-9659-1E9B0CED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673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54BE27-8C07-40FA-8453-A8F9BC8D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F1571D-DA99-46D2-AAB9-8F0D9A16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3CDA3E-9B68-482E-9E6F-28AD7FEE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388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5E9E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702A1D-0903-4545-A2E6-EE53F4E0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048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4D6C07-4447-454D-BC2B-19DA25DE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The operating model needs named owners and measurable proof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6E28A5-BDA4-4043-8A7F-C31817AF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59677A"/>
                </a:solidFill>
              </a:defRPr>
            </a:pPr>
            <a:r>
              <a:rPr sz="1650" b="0">
                <a:solidFill>
                  <a:srgbClr val="59677A"/>
                </a:solidFill>
              </a:rPr>
              <a:t>A governed reporting strategy will fail if ownership stays split across product, compliance, data, supervision, and field enablement.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182654-2396-4928-B8E3-F33D1C5E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3048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140A14-D5FC-4B1A-BCE8-05432973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6667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3C8061-FDEE-44EF-A8C2-476576AC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Executive steering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36E177-C539-4749-9A0E-8E421D75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259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Advisor platform, compliance/supervision, data governance, AI governance, operations, and field leadership.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C72ECB-4153-48F9-AB8B-9D8F28B9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5150"/>
            <a:ext cx="3048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018740-39A3-418C-A063-81E58416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5150"/>
            <a:ext cx="6667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EA03D1-84EA-4668-8514-0CE8840A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337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Pilot measures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10EF8B-D6D1-4E60-9B14-339A5613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90950"/>
            <a:ext cx="259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Review cycle time, evidence completeness, exception aging, advisor adoption quality, blocker resolution, retention watchlist movement.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F4928A-9605-4A38-A692-8F558803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2667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51686B-2D8D-4079-B061-21B53687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6667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85538F-D4BB-4151-AEC5-7BB51CAA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Release gates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EB1069-4F8C-4AA6-A1A7-76816166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90950"/>
            <a:ext cx="2209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77A"/>
                </a:solidFill>
              </a:defRPr>
            </a:pPr>
            <a:r>
              <a:rPr sz="1275" b="0">
                <a:solidFill>
                  <a:srgbClr val="59677A"/>
                </a:solidFill>
              </a:rPr>
              <a:t>Source access, policy approval, human-review workflow, partner-risk review, and production readiness.</a:t>
            </a:r>
          </a:p>
        </p:txBody>
      </p:sp>
    </p:spTree>
    <p:extLst>
      <p:ext uri="{BB962C8B-B14F-4D97-AF65-F5344CB8AC3E}">
        <p14:creationId xmlns:p14="http://schemas.microsoft.com/office/powerpoint/2010/main" val="16911701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F9FCD7-7AAC-4387-B422-DDC4C44D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A3D"/>
                </a:solidFill>
              </a:defRPr>
            </a:pPr>
            <a:r>
              <a:rPr sz="1125" b="1">
                <a:solidFill>
                  <a:srgbClr val="007A3D"/>
                </a:solidFill>
              </a:rPr>
              <a:t>WEALTHSCAPE REPORTING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E69B1-6BB3-46CF-B7BE-EBC61170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1537E-59D4-4352-B62E-5432AD80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Evidence: prototype captures; strategy packet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B6A9C-5C39-494F-A403-0B2847EB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EC88F-68E9-4394-ABB0-389FDFDD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Prototype evidence should support strategy, not lead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984A5-AEDF-4650-B651-D3AAA4AA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59677A"/>
                </a:solidFill>
              </a:defRPr>
            </a:pPr>
            <a:r>
              <a:rPr sz="1650" b="0">
                <a:solidFill>
                  <a:srgbClr val="59677A"/>
                </a:solidFill>
              </a:rPr>
              <a:t>Use the prototype to make the recommendation tangible, then return the discussion to investment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2FC34-8205-4714-8E1E-D763B6EA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0480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c7bb8dc784d07"/>
          <a:srcRect xmlns:a="http://schemas.openxmlformats.org/drawingml/2006/main" l="0" t="615" r="0" b="6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3333750"/>
            <a:ext cx="2857500" cy="2038350"/>
          </a:xfrm>
          <a:prstGeom xmlns:a="http://schemas.openxmlformats.org/drawingml/2006/main" prst="roundRect">
            <a:avLst>
              <a:gd name="adj" fmla="val 37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19CF0-6FD3-42D3-B7DE-95A774AC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Command layer example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3F5F8-8185-45ED-A092-3C381133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38500"/>
            <a:ext cx="30480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5673f845f4dfc"/>
          <a:srcRect xmlns:a="http://schemas.openxmlformats.org/drawingml/2006/main" l="0" t="615" r="0" b="6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29150" y="3333750"/>
            <a:ext cx="2857500" cy="2038350"/>
          </a:xfrm>
          <a:prstGeom xmlns:a="http://schemas.openxmlformats.org/drawingml/2006/main" prst="roundRect">
            <a:avLst>
              <a:gd name="adj" fmla="val 373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EA3FF-83D3-49F7-96AF-DD611D59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505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Strategy-link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8DE64-C5C6-4694-9E77-B3ED7173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571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7a119003949f9"/>
          <a:srcRect xmlns:a="http://schemas.openxmlformats.org/drawingml/2006/main" l="2485" t="0" r="24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3333750"/>
            <a:ext cx="2381250" cy="1809750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D2C13-38A6-4529-A390-6626E8AE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76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Telemetry example</a:t>
            </a:r>
          </a:p>
        </p:txBody>
      </p:sp>
    </p:spTree>
    <p:extLst>
      <p:ext uri="{BB962C8B-B14F-4D97-AF65-F5344CB8AC3E}">
        <p14:creationId xmlns:p14="http://schemas.microsoft.com/office/powerpoint/2010/main" val="13044795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8E941-07B3-4201-ABEF-56CD050A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A3D"/>
                </a:solidFill>
              </a:defRPr>
            </a:pPr>
            <a:r>
              <a:rPr sz="1125" b="1">
                <a:solidFill>
                  <a:srgbClr val="007A3D"/>
                </a:solidFill>
              </a:rPr>
              <a:t>WEALTHSCAPE REPORTING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62404-BF04-453F-BED3-8238DD74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984C3-56EF-43DC-A3A6-E7DD0E68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77A"/>
                </a:solidFill>
              </a:defRPr>
            </a:pPr>
            <a:r>
              <a:rPr sz="1050" b="0">
                <a:solidFill>
                  <a:srgbClr val="59677A"/>
                </a:solidFill>
              </a:rPr>
              <a:t>Evidence: bibliography compiled July 30,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5F6E2-EE71-420B-B363-351EF413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9677A"/>
                </a:solidFill>
              </a:defRPr>
            </a:pPr>
            <a:r>
              <a:rPr sz="1050" b="1">
                <a:solidFill>
                  <a:srgbClr val="59677A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3EFFB-7315-4C5C-9FC3-B4AF9286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Bibliography and evidence 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13BAA-8BB9-4EA8-91A0-C611F0CE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Public 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1452E-3C88-4566-9F02-ABE84E76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- FINRA 2026 Annual Regulatory Oversight Report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- FINRA GenAI topic page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- SIFMA 2025 Capital Markets Fact 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- J.D. Power 2026 U.S. Financial Advisor Satisfaction Study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- Global Relay Industry Insights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5A12C-ABAB-4C2F-BE26-8D2995D8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- Fidelity Institutional wealth management trends for 2026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- Envestnet R2 2026 platform announcement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- Envestnet AI explainability announcement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- Addepar for Wealth Management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- Addepar AI/data/workflow positioning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A7123-5E2C-4A40-80B9-7AC16809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Internal and prototype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CBAF5-485C-48DB-884D-11C3170C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006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- Broker-dealer strategy expansion packet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- Strategy lane prompts and implementation trail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677A"/>
                </a:solidFill>
              </a:defRPr>
            </a:pPr>
            <a:r>
              <a:rPr sz="1200" b="0">
                <a:solidFill>
                  <a:srgbClr val="59677A"/>
                </a:solidFill>
              </a:rPr>
              <a:t>- Wealthscape Reporting 2.0 prototype screenshots</a:t>
            </a:r>
          </a:p>
        </p:txBody>
      </p:sp>
    </p:spTree>
    <p:extLst>
      <p:ext uri="{BB962C8B-B14F-4D97-AF65-F5344CB8AC3E}">
        <p14:creationId xmlns:p14="http://schemas.microsoft.com/office/powerpoint/2010/main" val="15137361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2026-07-30T19:38:19.9280000Z</dcterms:created>
  <dcterms:modified xsi:type="dcterms:W3CDTF">2026-07-30T19:38:19.9280000Z</dcterms:modified>
</coreProperties>
</file>